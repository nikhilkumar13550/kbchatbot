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2722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hape 115">
            <a:extLst>
              <a:ext uri="{FF2B5EF4-FFF2-40B4-BE49-F238E27FC236}">
                <a16:creationId xmlns:a16="http://schemas.microsoft.com/office/drawing/2014/main" id="{86DF2A6D-72D8-917F-BDC8-C610F193FFDE}"/>
              </a:ext>
            </a:extLst>
          </p:cNvPr>
          <p:cNvSpPr/>
          <p:nvPr/>
        </p:nvSpPr>
        <p:spPr>
          <a:xfrm flipH="1" flipV="1">
            <a:off x="3050092" y="1458872"/>
            <a:ext cx="20367" cy="4082745"/>
          </a:xfrm>
          <a:prstGeom prst="line">
            <a:avLst/>
          </a:prstGeom>
          <a:noFill/>
          <a:ln w="15875">
            <a:solidFill>
              <a:srgbClr val="3949AB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0" name="Shape 6"/>
          <p:cNvSpPr/>
          <p:nvPr/>
        </p:nvSpPr>
        <p:spPr>
          <a:xfrm>
            <a:off x="246888" y="5175945"/>
            <a:ext cx="9814587" cy="1353312"/>
          </a:xfrm>
          <a:prstGeom prst="roundRect">
            <a:avLst>
              <a:gd name="adj" fmla="val 6081"/>
            </a:avLst>
          </a:prstGeom>
          <a:solidFill>
            <a:schemeClr val="bg2"/>
          </a:solidFill>
          <a:ln w="15875">
            <a:solidFill>
              <a:srgbClr val="0F6CBD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1" name="Shape 45">
            <a:extLst>
              <a:ext uri="{FF2B5EF4-FFF2-40B4-BE49-F238E27FC236}">
                <a16:creationId xmlns:a16="http://schemas.microsoft.com/office/drawing/2014/main" id="{111F4095-5044-0940-0BB6-C0E7C471A01C}"/>
              </a:ext>
            </a:extLst>
          </p:cNvPr>
          <p:cNvSpPr/>
          <p:nvPr/>
        </p:nvSpPr>
        <p:spPr>
          <a:xfrm>
            <a:off x="5757472" y="6000143"/>
            <a:ext cx="584211" cy="914"/>
          </a:xfrm>
          <a:prstGeom prst="line">
            <a:avLst/>
          </a:prstGeom>
          <a:noFill/>
          <a:ln w="28575">
            <a:solidFill>
              <a:srgbClr val="0F6CB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1" name="Shape 46"/>
          <p:cNvSpPr/>
          <p:nvPr/>
        </p:nvSpPr>
        <p:spPr>
          <a:xfrm>
            <a:off x="7719438" y="6050497"/>
            <a:ext cx="640993" cy="1828"/>
          </a:xfrm>
          <a:prstGeom prst="line">
            <a:avLst/>
          </a:prstGeom>
          <a:noFill/>
          <a:ln w="28575">
            <a:solidFill>
              <a:srgbClr val="0F6CB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38328" y="419250"/>
            <a:ext cx="1655064" cy="1024128"/>
          </a:xfrm>
          <a:prstGeom prst="roundRect">
            <a:avLst>
              <a:gd name="adj" fmla="val 8036"/>
            </a:avLst>
          </a:prstGeom>
          <a:ln w="15875">
            <a:solidFill>
              <a:srgbClr val="0E7C7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66344" y="464970"/>
            <a:ext cx="3090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&amp; EXISTING SYSTEMS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932066" y="566334"/>
            <a:ext cx="1700784" cy="913619"/>
          </a:xfrm>
          <a:prstGeom prst="roundRect">
            <a:avLst>
              <a:gd name="adj" fmla="val 8036"/>
            </a:avLst>
          </a:prstGeom>
          <a:ln w="15875">
            <a:solidFill>
              <a:srgbClr val="2E7D8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46888" y="1992018"/>
            <a:ext cx="8517550" cy="1353312"/>
          </a:xfrm>
          <a:prstGeom prst="roundRect">
            <a:avLst>
              <a:gd name="adj" fmla="val 6081"/>
            </a:avLst>
          </a:prstGeom>
          <a:solidFill>
            <a:srgbClr val="F0F6FC"/>
          </a:solidFill>
          <a:ln w="15875">
            <a:solidFill>
              <a:srgbClr val="0F6CBD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" y="2019450"/>
            <a:ext cx="164592" cy="16459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76656" y="2009788"/>
            <a:ext cx="9528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chemeClr val="accent4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b="1" dirty="0">
                <a:solidFill>
                  <a:schemeClr val="accent4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r>
              <a:rPr lang="en-US" sz="850" b="1" dirty="0">
                <a:solidFill>
                  <a:schemeClr val="accent4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b="1" dirty="0">
                <a:solidFill>
                  <a:schemeClr val="accent4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</a:t>
            </a:r>
            <a:r>
              <a:rPr lang="en-US" sz="850" b="1" dirty="0">
                <a:solidFill>
                  <a:schemeClr val="accent4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b="1" dirty="0">
                <a:solidFill>
                  <a:schemeClr val="accent4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</a:t>
            </a:r>
            <a:r>
              <a:rPr lang="en-US" sz="850" b="1" dirty="0">
                <a:solidFill>
                  <a:schemeClr val="accent4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</a:t>
            </a:r>
            <a:r>
              <a:rPr lang="en-US" sz="900" b="1" dirty="0">
                <a:solidFill>
                  <a:schemeClr val="accent4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r>
              <a:rPr lang="en-US" sz="850" b="1" dirty="0">
                <a:solidFill>
                  <a:schemeClr val="accent4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   —    </a:t>
            </a:r>
            <a:r>
              <a:rPr lang="en-US" sz="900" b="1" dirty="0">
                <a:solidFill>
                  <a:schemeClr val="accent4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</a:p>
        </p:txBody>
      </p:sp>
      <p:sp>
        <p:nvSpPr>
          <p:cNvPr id="16" name="Shape 12"/>
          <p:cNvSpPr/>
          <p:nvPr/>
        </p:nvSpPr>
        <p:spPr>
          <a:xfrm>
            <a:off x="9033075" y="640943"/>
            <a:ext cx="1828800" cy="769659"/>
          </a:xfrm>
          <a:prstGeom prst="roundRect">
            <a:avLst>
              <a:gd name="adj" fmla="val 5233"/>
            </a:avLst>
          </a:prstGeom>
          <a:ln w="15875">
            <a:solidFill>
              <a:srgbClr val="283593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384048" y="656994"/>
            <a:ext cx="1536192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3DBE4"/>
            </a:solidFill>
            <a:prstDash val="solid"/>
          </a:ln>
          <a:effectLst>
            <a:outerShdw blurRad="63500" dist="17780" dir="5400000" algn="bl" rotWithShape="0">
              <a:srgbClr val="3A4A5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466344" y="739290"/>
            <a:ext cx="512064" cy="512064"/>
          </a:xfrm>
          <a:prstGeom prst="roundRect">
            <a:avLst>
              <a:gd name="adj" fmla="val 8929"/>
            </a:avLst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516" y="831462"/>
            <a:ext cx="327721" cy="327721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060704" y="684426"/>
            <a:ext cx="8046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Mailboxes</a:t>
            </a:r>
            <a:endParaRPr lang="en-US" sz="950" dirty="0"/>
          </a:p>
          <a:p>
            <a:pPr marL="0" indent="0" algn="l">
              <a:lnSpc>
                <a:spcPct val="92000"/>
              </a:lnSpc>
              <a:buNone/>
            </a:pPr>
            <a:r>
              <a:rPr lang="en-US" sz="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Claim·Appeal·Cust·PA·Producer</a:t>
            </a:r>
          </a:p>
        </p:txBody>
      </p:sp>
      <p:sp>
        <p:nvSpPr>
          <p:cNvPr id="22" name="Shape 17"/>
          <p:cNvSpPr/>
          <p:nvPr/>
        </p:nvSpPr>
        <p:spPr>
          <a:xfrm>
            <a:off x="10150633" y="1772133"/>
            <a:ext cx="1990816" cy="1367166"/>
          </a:xfrm>
          <a:prstGeom prst="roundRect">
            <a:avLst>
              <a:gd name="adj" fmla="val 8108"/>
            </a:avLst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rgbClr val="D3DBE4"/>
            </a:solidFill>
            <a:prstDash val="solid"/>
          </a:ln>
          <a:effectLst>
            <a:outerShdw blurRad="63500" dist="17780" dir="5400000" algn="bl" rotWithShape="0">
              <a:srgbClr val="3A4A5A">
                <a:alpha val="16000"/>
              </a:srgbClr>
            </a:outerShdw>
          </a:effectLst>
        </p:spPr>
        <p:txBody>
          <a:bodyPr/>
          <a:lstStyle/>
          <a:p>
            <a:endParaRPr lang="en-US" dirty="0">
              <a:highlight>
                <a:srgbClr val="0000FF"/>
              </a:highlight>
            </a:endParaRPr>
          </a:p>
        </p:txBody>
      </p:sp>
      <p:sp>
        <p:nvSpPr>
          <p:cNvPr id="23" name="Shape 18"/>
          <p:cNvSpPr/>
          <p:nvPr/>
        </p:nvSpPr>
        <p:spPr>
          <a:xfrm>
            <a:off x="10324370" y="2019450"/>
            <a:ext cx="846633" cy="882572"/>
          </a:xfrm>
          <a:prstGeom prst="roundRect">
            <a:avLst>
              <a:gd name="adj" fmla="val 8929"/>
            </a:avLst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51399" y="2220054"/>
            <a:ext cx="541845" cy="56484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1298032" y="2126532"/>
            <a:ext cx="7498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40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TREX</a:t>
            </a:r>
            <a:endParaRPr lang="en-US" sz="1400" dirty="0"/>
          </a:p>
          <a:p>
            <a:pPr marL="0" indent="0" algn="l">
              <a:lnSpc>
                <a:spcPct val="92000"/>
              </a:lnSpc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Doc Mgmt · 87 task types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3891295" y="752360"/>
            <a:ext cx="1627632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3DBE4"/>
            </a:solidFill>
            <a:prstDash val="solid"/>
          </a:ln>
          <a:effectLst>
            <a:outerShdw blurRad="63500" dist="17780" dir="5400000" algn="bl" rotWithShape="0">
              <a:srgbClr val="3A4A5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1"/>
          <p:cNvSpPr/>
          <p:nvPr/>
        </p:nvSpPr>
        <p:spPr>
          <a:xfrm>
            <a:off x="3973591" y="834656"/>
            <a:ext cx="512064" cy="512064"/>
          </a:xfrm>
          <a:prstGeom prst="roundRect">
            <a:avLst>
              <a:gd name="adj" fmla="val 8929"/>
            </a:avLst>
          </a:prstGeom>
          <a:solidFill>
            <a:srgbClr val="6E3FA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65763" y="926828"/>
            <a:ext cx="327721" cy="327721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4567951" y="779792"/>
            <a:ext cx="8961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IDP</a:t>
            </a:r>
            <a:endParaRPr lang="en-US" sz="950" dirty="0"/>
          </a:p>
          <a:p>
            <a:pPr marL="0" indent="0" algn="l">
              <a:lnSpc>
                <a:spcPct val="92000"/>
              </a:lnSpc>
              <a:buNone/>
            </a:pPr>
            <a:r>
              <a:rPr lang="en-US" sz="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AI Document Processing</a:t>
            </a:r>
          </a:p>
          <a:p>
            <a:pPr marL="0" indent="0" algn="l">
              <a:lnSpc>
                <a:spcPct val="92000"/>
              </a:lnSpc>
              <a:buNone/>
            </a:pPr>
            <a:r>
              <a:rPr lang="en-US" sz="900" b="1" dirty="0">
                <a:solidFill>
                  <a:schemeClr val="accent4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r>
              <a:rPr lang="en-US" sz="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b="1" dirty="0">
                <a:solidFill>
                  <a:schemeClr val="accent4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TEXTRACT</a:t>
            </a:r>
          </a:p>
        </p:txBody>
      </p:sp>
      <p:sp>
        <p:nvSpPr>
          <p:cNvPr id="30" name="Shape 23"/>
          <p:cNvSpPr/>
          <p:nvPr/>
        </p:nvSpPr>
        <p:spPr>
          <a:xfrm>
            <a:off x="6986930" y="693570"/>
            <a:ext cx="1572768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3DBE4"/>
            </a:solidFill>
            <a:prstDash val="solid"/>
          </a:ln>
          <a:effectLst>
            <a:outerShdw blurRad="63500" dist="17780" dir="5400000" algn="bl" rotWithShape="0">
              <a:srgbClr val="3A4A5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4"/>
          <p:cNvSpPr/>
          <p:nvPr/>
        </p:nvSpPr>
        <p:spPr>
          <a:xfrm>
            <a:off x="7069226" y="775866"/>
            <a:ext cx="512064" cy="512064"/>
          </a:xfrm>
          <a:prstGeom prst="roundRect">
            <a:avLst>
              <a:gd name="adj" fmla="val 8929"/>
            </a:avLst>
          </a:prstGeom>
          <a:solidFill>
            <a:srgbClr val="2E7D8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61398" y="868038"/>
            <a:ext cx="327721" cy="327721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7663586" y="721002"/>
            <a:ext cx="8412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OpsHive</a:t>
            </a:r>
            <a:endParaRPr lang="en-US" sz="950" dirty="0"/>
          </a:p>
          <a:p>
            <a:pPr marL="0" indent="0" algn="l">
              <a:lnSpc>
                <a:spcPct val="92000"/>
              </a:lnSpc>
              <a:buNone/>
            </a:pPr>
            <a:r>
              <a:rPr lang="en-US" sz="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Indexing · Research/Rework</a:t>
            </a:r>
            <a:endParaRPr lang="en-US" sz="800" dirty="0"/>
          </a:p>
        </p:txBody>
      </p:sp>
      <p:sp>
        <p:nvSpPr>
          <p:cNvPr id="34" name="Shape 26"/>
          <p:cNvSpPr/>
          <p:nvPr/>
        </p:nvSpPr>
        <p:spPr>
          <a:xfrm>
            <a:off x="374904" y="2401944"/>
            <a:ext cx="155448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5875">
            <a:solidFill>
              <a:srgbClr val="0070C0"/>
            </a:solidFill>
            <a:prstDash val="solid"/>
          </a:ln>
          <a:effectLst>
            <a:outerShdw blurRad="63500" dist="17780" dir="5400000" algn="bl" rotWithShape="0">
              <a:srgbClr val="3A4A5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27"/>
          <p:cNvSpPr/>
          <p:nvPr/>
        </p:nvSpPr>
        <p:spPr>
          <a:xfrm>
            <a:off x="374904" y="2376066"/>
            <a:ext cx="82296" cy="859536"/>
          </a:xfrm>
          <a:prstGeom prst="rect">
            <a:avLst/>
          </a:prstGeom>
          <a:solidFill>
            <a:srgbClr val="0070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28"/>
          <p:cNvSpPr/>
          <p:nvPr/>
        </p:nvSpPr>
        <p:spPr>
          <a:xfrm>
            <a:off x="347472" y="2238906"/>
            <a:ext cx="329184" cy="329184"/>
          </a:xfrm>
          <a:prstGeom prst="ellipse">
            <a:avLst/>
          </a:prstGeom>
          <a:solidFill>
            <a:srgbClr val="0070C0"/>
          </a:solidFill>
          <a:ln w="19050">
            <a:solidFill>
              <a:srgbClr val="FFFFFF"/>
            </a:solidFill>
            <a:prstDash val="solid"/>
          </a:ln>
          <a:effectLst>
            <a:outerShdw blurRad="63500" dist="17780" dir="5400000" algn="bl" rotWithShape="0">
              <a:srgbClr val="3A4A5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Text 29"/>
          <p:cNvSpPr/>
          <p:nvPr/>
        </p:nvSpPr>
        <p:spPr>
          <a:xfrm>
            <a:off x="347472" y="223890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38" name="Shape 30"/>
          <p:cNvSpPr/>
          <p:nvPr/>
        </p:nvSpPr>
        <p:spPr>
          <a:xfrm>
            <a:off x="1563624" y="2476650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4772" y="2517798"/>
            <a:ext cx="192024" cy="192024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539496" y="2650386"/>
            <a:ext cx="9875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00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000" dirty="0"/>
          </a:p>
          <a:p>
            <a:pPr marL="0" indent="0" algn="l">
              <a:lnSpc>
                <a:spcPct val="92000"/>
              </a:lnSpc>
              <a:buNone/>
            </a:pPr>
            <a:r>
              <a:rPr lang="en-US" sz="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Pull from mailboxes</a:t>
            </a:r>
          </a:p>
          <a:p>
            <a:pPr>
              <a:lnSpc>
                <a:spcPct val="92000"/>
              </a:lnSpc>
            </a:pPr>
            <a:r>
              <a:rPr lang="en-US" sz="800" b="1" dirty="0">
                <a:solidFill>
                  <a:schemeClr val="accent4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LAMBDA + </a:t>
            </a:r>
            <a:r>
              <a:rPr lang="en-US" sz="80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KONG API (MS Graph for email)</a:t>
            </a:r>
          </a:p>
        </p:txBody>
      </p:sp>
      <p:sp>
        <p:nvSpPr>
          <p:cNvPr id="44" name="Text 35"/>
          <p:cNvSpPr/>
          <p:nvPr/>
        </p:nvSpPr>
        <p:spPr>
          <a:xfrm>
            <a:off x="2002536" y="223890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47" name="Text 37"/>
          <p:cNvSpPr/>
          <p:nvPr/>
        </p:nvSpPr>
        <p:spPr>
          <a:xfrm>
            <a:off x="2194560" y="2650386"/>
            <a:ext cx="9875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endParaRPr lang="en-US" sz="800" dirty="0"/>
          </a:p>
        </p:txBody>
      </p:sp>
      <p:sp>
        <p:nvSpPr>
          <p:cNvPr id="48" name="Shape 38"/>
          <p:cNvSpPr/>
          <p:nvPr/>
        </p:nvSpPr>
        <p:spPr>
          <a:xfrm>
            <a:off x="2042679" y="2394354"/>
            <a:ext cx="155448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5875">
            <a:solidFill>
              <a:srgbClr val="1B5FAE"/>
            </a:solidFill>
            <a:prstDash val="solid"/>
          </a:ln>
          <a:effectLst>
            <a:outerShdw blurRad="63500" dist="17780" dir="5400000" algn="bl" rotWithShape="0">
              <a:srgbClr val="3A4A5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9" name="Shape 39"/>
          <p:cNvSpPr/>
          <p:nvPr/>
        </p:nvSpPr>
        <p:spPr>
          <a:xfrm>
            <a:off x="2042679" y="2394354"/>
            <a:ext cx="82296" cy="859536"/>
          </a:xfrm>
          <a:prstGeom prst="rect">
            <a:avLst/>
          </a:prstGeom>
          <a:solidFill>
            <a:srgbClr val="1B5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0"/>
          <p:cNvSpPr/>
          <p:nvPr/>
        </p:nvSpPr>
        <p:spPr>
          <a:xfrm>
            <a:off x="2015247" y="2257194"/>
            <a:ext cx="329184" cy="329184"/>
          </a:xfrm>
          <a:prstGeom prst="ellipse">
            <a:avLst/>
          </a:prstGeom>
          <a:solidFill>
            <a:srgbClr val="1B5FAE"/>
          </a:solidFill>
          <a:ln w="19050">
            <a:solidFill>
              <a:srgbClr val="FFFFFF"/>
            </a:solidFill>
            <a:prstDash val="solid"/>
          </a:ln>
          <a:effectLst>
            <a:outerShdw blurRad="63500" dist="17780" dir="5400000" algn="bl" rotWithShape="0">
              <a:srgbClr val="3A4A5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1" name="Text 41"/>
          <p:cNvSpPr/>
          <p:nvPr/>
        </p:nvSpPr>
        <p:spPr>
          <a:xfrm>
            <a:off x="2015247" y="225719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52" name="Shape 42"/>
          <p:cNvSpPr/>
          <p:nvPr/>
        </p:nvSpPr>
        <p:spPr>
          <a:xfrm>
            <a:off x="3231399" y="2494938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1B5FA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3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72547" y="2536086"/>
            <a:ext cx="192024" cy="192024"/>
          </a:xfrm>
          <a:prstGeom prst="rect">
            <a:avLst/>
          </a:prstGeom>
        </p:spPr>
      </p:pic>
      <p:sp>
        <p:nvSpPr>
          <p:cNvPr id="54" name="Text 43"/>
          <p:cNvSpPr/>
          <p:nvPr/>
        </p:nvSpPr>
        <p:spPr>
          <a:xfrm>
            <a:off x="2207271" y="2668674"/>
            <a:ext cx="9875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00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000" dirty="0"/>
          </a:p>
          <a:p>
            <a:pPr marL="0" indent="0" algn="l">
              <a:lnSpc>
                <a:spcPct val="92000"/>
              </a:lnSpc>
              <a:buNone/>
            </a:pPr>
            <a:r>
              <a:rPr lang="en-US" sz="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Email + Doc to Cloud object storage</a:t>
            </a:r>
          </a:p>
          <a:p>
            <a:pPr>
              <a:lnSpc>
                <a:spcPct val="92000"/>
              </a:lnSpc>
            </a:pPr>
            <a:r>
              <a:rPr lang="en-US" sz="800" b="1" dirty="0">
                <a:solidFill>
                  <a:schemeClr val="accent4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S3 ENDPOINT</a:t>
            </a:r>
          </a:p>
          <a:p>
            <a:pPr marL="0" indent="0" algn="l">
              <a:lnSpc>
                <a:spcPct val="92000"/>
              </a:lnSpc>
              <a:buNone/>
            </a:pPr>
            <a:endParaRPr lang="en-US" sz="800" dirty="0"/>
          </a:p>
        </p:txBody>
      </p:sp>
      <p:sp>
        <p:nvSpPr>
          <p:cNvPr id="55" name="Shape 44"/>
          <p:cNvSpPr/>
          <p:nvPr/>
        </p:nvSpPr>
        <p:spPr>
          <a:xfrm>
            <a:off x="3697743" y="2394354"/>
            <a:ext cx="155448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5875">
            <a:solidFill>
              <a:srgbClr val="0070C0"/>
            </a:solidFill>
            <a:prstDash val="solid"/>
          </a:ln>
          <a:effectLst>
            <a:outerShdw blurRad="63500" dist="17780" dir="5400000" algn="bl" rotWithShape="0">
              <a:srgbClr val="3A4A5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6" name="Shape 45"/>
          <p:cNvSpPr/>
          <p:nvPr/>
        </p:nvSpPr>
        <p:spPr>
          <a:xfrm>
            <a:off x="3697743" y="2394354"/>
            <a:ext cx="82296" cy="859536"/>
          </a:xfrm>
          <a:prstGeom prst="rect">
            <a:avLst/>
          </a:prstGeom>
          <a:solidFill>
            <a:srgbClr val="0070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46"/>
          <p:cNvSpPr/>
          <p:nvPr/>
        </p:nvSpPr>
        <p:spPr>
          <a:xfrm>
            <a:off x="3670311" y="2257194"/>
            <a:ext cx="329184" cy="329184"/>
          </a:xfrm>
          <a:prstGeom prst="ellipse">
            <a:avLst/>
          </a:prstGeom>
          <a:solidFill>
            <a:srgbClr val="0070C0"/>
          </a:solidFill>
          <a:ln w="19050">
            <a:solidFill>
              <a:srgbClr val="FFFFFF"/>
            </a:solidFill>
            <a:prstDash val="solid"/>
          </a:ln>
          <a:effectLst>
            <a:outerShdw blurRad="63500" dist="17780" dir="5400000" algn="bl" rotWithShape="0">
              <a:srgbClr val="3A4A5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8" name="Text 47"/>
          <p:cNvSpPr/>
          <p:nvPr/>
        </p:nvSpPr>
        <p:spPr>
          <a:xfrm>
            <a:off x="3670311" y="225719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59" name="Shape 48"/>
          <p:cNvSpPr/>
          <p:nvPr/>
        </p:nvSpPr>
        <p:spPr>
          <a:xfrm>
            <a:off x="4886463" y="2494938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6E3FA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0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7611" y="2536086"/>
            <a:ext cx="192024" cy="192024"/>
          </a:xfrm>
          <a:prstGeom prst="rect">
            <a:avLst/>
          </a:prstGeom>
        </p:spPr>
      </p:pic>
      <p:sp>
        <p:nvSpPr>
          <p:cNvPr id="61" name="Text 49"/>
          <p:cNvSpPr/>
          <p:nvPr/>
        </p:nvSpPr>
        <p:spPr>
          <a:xfrm>
            <a:off x="3862335" y="2668674"/>
            <a:ext cx="9875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00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&amp; Extract</a:t>
            </a:r>
            <a:endParaRPr lang="en-US" sz="1000" dirty="0"/>
          </a:p>
          <a:p>
            <a:pPr marL="0" indent="0" algn="l">
              <a:lnSpc>
                <a:spcPct val="92000"/>
              </a:lnSpc>
              <a:buNone/>
            </a:pPr>
            <a:r>
              <a:rPr lang="en-US" sz="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IDP fields</a:t>
            </a:r>
          </a:p>
          <a:p>
            <a:pPr>
              <a:lnSpc>
                <a:spcPct val="92000"/>
              </a:lnSpc>
            </a:pPr>
            <a:r>
              <a:rPr lang="en-US" sz="800" b="1" dirty="0">
                <a:solidFill>
                  <a:schemeClr val="accent4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LAMBDA  + TEXTRACT TRIGGER</a:t>
            </a:r>
          </a:p>
          <a:p>
            <a:pPr marL="0" indent="0" algn="l">
              <a:lnSpc>
                <a:spcPct val="92000"/>
              </a:lnSpc>
              <a:buNone/>
            </a:pPr>
            <a:endParaRPr lang="en-US" sz="800" dirty="0"/>
          </a:p>
        </p:txBody>
      </p:sp>
      <p:sp>
        <p:nvSpPr>
          <p:cNvPr id="62" name="Shape 50"/>
          <p:cNvSpPr/>
          <p:nvPr/>
        </p:nvSpPr>
        <p:spPr>
          <a:xfrm>
            <a:off x="5352807" y="2394354"/>
            <a:ext cx="155448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5875">
            <a:solidFill>
              <a:srgbClr val="0070C0"/>
            </a:solidFill>
            <a:prstDash val="solid"/>
          </a:ln>
          <a:effectLst>
            <a:outerShdw blurRad="63500" dist="17780" dir="5400000" algn="bl" rotWithShape="0">
              <a:srgbClr val="3A4A5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3" name="Shape 51"/>
          <p:cNvSpPr/>
          <p:nvPr/>
        </p:nvSpPr>
        <p:spPr>
          <a:xfrm>
            <a:off x="5352807" y="2394354"/>
            <a:ext cx="82296" cy="859536"/>
          </a:xfrm>
          <a:prstGeom prst="rect">
            <a:avLst/>
          </a:prstGeom>
          <a:solidFill>
            <a:srgbClr val="0070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Shape 52"/>
          <p:cNvSpPr/>
          <p:nvPr/>
        </p:nvSpPr>
        <p:spPr>
          <a:xfrm>
            <a:off x="5325375" y="2257194"/>
            <a:ext cx="329184" cy="329184"/>
          </a:xfrm>
          <a:prstGeom prst="ellipse">
            <a:avLst/>
          </a:prstGeom>
          <a:solidFill>
            <a:srgbClr val="0070C0"/>
          </a:solidFill>
          <a:ln w="19050">
            <a:solidFill>
              <a:srgbClr val="FFFFFF"/>
            </a:solidFill>
            <a:prstDash val="solid"/>
          </a:ln>
          <a:effectLst>
            <a:outerShdw blurRad="63500" dist="17780" dir="5400000" algn="bl" rotWithShape="0">
              <a:srgbClr val="3A4A5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5" name="Text 53"/>
          <p:cNvSpPr/>
          <p:nvPr/>
        </p:nvSpPr>
        <p:spPr>
          <a:xfrm>
            <a:off x="5325375" y="225719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66" name="Shape 54"/>
          <p:cNvSpPr/>
          <p:nvPr/>
        </p:nvSpPr>
        <p:spPr>
          <a:xfrm>
            <a:off x="6541527" y="2494938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1453A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7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82675" y="2536086"/>
            <a:ext cx="192024" cy="192024"/>
          </a:xfrm>
          <a:prstGeom prst="rect">
            <a:avLst/>
          </a:prstGeom>
        </p:spPr>
      </p:pic>
      <p:sp>
        <p:nvSpPr>
          <p:cNvPr id="68" name="Text 55"/>
          <p:cNvSpPr/>
          <p:nvPr/>
        </p:nvSpPr>
        <p:spPr>
          <a:xfrm>
            <a:off x="5517398" y="2642796"/>
            <a:ext cx="1143783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00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</a:t>
            </a:r>
            <a:endParaRPr lang="en-US" sz="1000" dirty="0"/>
          </a:p>
          <a:p>
            <a:pPr marL="0" indent="0" algn="l">
              <a:lnSpc>
                <a:spcPct val="92000"/>
              </a:lnSpc>
              <a:buNone/>
            </a:pPr>
            <a:r>
              <a:rPr lang="en-US" sz="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Fields to SQL</a:t>
            </a:r>
          </a:p>
          <a:p>
            <a:pPr>
              <a:lnSpc>
                <a:spcPct val="92000"/>
              </a:lnSpc>
            </a:pPr>
            <a:r>
              <a:rPr lang="en-US" sz="800" b="1" dirty="0">
                <a:solidFill>
                  <a:schemeClr val="accent4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LAMBDA + SQL CONNECTOR + </a:t>
            </a:r>
            <a:r>
              <a:rPr lang="en-US" sz="80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KONG API (REST API CALLS)</a:t>
            </a:r>
            <a:endParaRPr lang="en-US" sz="800" b="1" dirty="0">
              <a:solidFill>
                <a:schemeClr val="accent4">
                  <a:lumMod val="50000"/>
                </a:schemeClr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92000"/>
              </a:lnSpc>
            </a:pPr>
            <a:endParaRPr lang="en-US" sz="800" b="1" dirty="0">
              <a:solidFill>
                <a:schemeClr val="accent4">
                  <a:lumMod val="50000"/>
                </a:schemeClr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lnSpc>
                <a:spcPct val="92000"/>
              </a:lnSpc>
              <a:buNone/>
            </a:pPr>
            <a:endParaRPr lang="en-US" sz="800" dirty="0"/>
          </a:p>
        </p:txBody>
      </p:sp>
      <p:sp>
        <p:nvSpPr>
          <p:cNvPr id="69" name="Shape 56"/>
          <p:cNvSpPr/>
          <p:nvPr/>
        </p:nvSpPr>
        <p:spPr>
          <a:xfrm>
            <a:off x="7007871" y="2394354"/>
            <a:ext cx="155448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5875">
            <a:solidFill>
              <a:srgbClr val="0070C0"/>
            </a:solidFill>
            <a:prstDash val="solid"/>
          </a:ln>
          <a:effectLst>
            <a:outerShdw blurRad="63500" dist="17780" dir="5400000" algn="bl" rotWithShape="0">
              <a:srgbClr val="3A4A5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0" name="Shape 57"/>
          <p:cNvSpPr/>
          <p:nvPr/>
        </p:nvSpPr>
        <p:spPr>
          <a:xfrm>
            <a:off x="7007871" y="2394354"/>
            <a:ext cx="82296" cy="859536"/>
          </a:xfrm>
          <a:prstGeom prst="rect">
            <a:avLst/>
          </a:prstGeom>
          <a:solidFill>
            <a:srgbClr val="0070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Shape 58"/>
          <p:cNvSpPr/>
          <p:nvPr/>
        </p:nvSpPr>
        <p:spPr>
          <a:xfrm>
            <a:off x="6980439" y="2257194"/>
            <a:ext cx="329184" cy="329184"/>
          </a:xfrm>
          <a:prstGeom prst="ellipse">
            <a:avLst/>
          </a:prstGeom>
          <a:solidFill>
            <a:srgbClr val="0070C0"/>
          </a:solidFill>
          <a:ln w="19050">
            <a:solidFill>
              <a:srgbClr val="FFFFFF"/>
            </a:solidFill>
            <a:prstDash val="solid"/>
          </a:ln>
          <a:effectLst>
            <a:outerShdw blurRad="63500" dist="17780" dir="5400000" algn="bl" rotWithShape="0">
              <a:srgbClr val="3A4A5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2" name="Text 59"/>
          <p:cNvSpPr/>
          <p:nvPr/>
        </p:nvSpPr>
        <p:spPr>
          <a:xfrm>
            <a:off x="6980439" y="225719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73" name="Shape 60"/>
          <p:cNvSpPr/>
          <p:nvPr/>
        </p:nvSpPr>
        <p:spPr>
          <a:xfrm>
            <a:off x="8196591" y="2494938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2E7D8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4" name="Image 11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37739" y="2536086"/>
            <a:ext cx="192024" cy="192024"/>
          </a:xfrm>
          <a:prstGeom prst="rect">
            <a:avLst/>
          </a:prstGeom>
        </p:spPr>
      </p:pic>
      <p:sp>
        <p:nvSpPr>
          <p:cNvPr id="75" name="Text 61"/>
          <p:cNvSpPr/>
          <p:nvPr/>
        </p:nvSpPr>
        <p:spPr>
          <a:xfrm>
            <a:off x="7172463" y="2668674"/>
            <a:ext cx="9875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00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Task</a:t>
            </a:r>
          </a:p>
          <a:p>
            <a:pPr marL="0" indent="0" algn="l">
              <a:lnSpc>
                <a:spcPct val="92000"/>
              </a:lnSpc>
              <a:buNone/>
            </a:pPr>
            <a:r>
              <a:rPr lang="en-US" sz="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OpsHive task </a:t>
            </a:r>
          </a:p>
          <a:p>
            <a:pPr>
              <a:lnSpc>
                <a:spcPct val="92000"/>
              </a:lnSpc>
            </a:pPr>
            <a:r>
              <a:rPr lang="en-US" sz="800" b="1" dirty="0">
                <a:solidFill>
                  <a:schemeClr val="accent4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LAMBDA + </a:t>
            </a:r>
            <a:r>
              <a:rPr lang="en-US" sz="80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KONG API (REST API CALLS)</a:t>
            </a:r>
          </a:p>
          <a:p>
            <a:pPr marL="0" indent="0" algn="l">
              <a:lnSpc>
                <a:spcPct val="92000"/>
              </a:lnSpc>
              <a:buNone/>
            </a:pPr>
            <a:endParaRPr lang="en-US" sz="800" dirty="0"/>
          </a:p>
        </p:txBody>
      </p:sp>
      <p:sp>
        <p:nvSpPr>
          <p:cNvPr id="79" name="Text 65"/>
          <p:cNvSpPr/>
          <p:nvPr/>
        </p:nvSpPr>
        <p:spPr>
          <a:xfrm>
            <a:off x="8635503" y="225719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83" name="Shape 68"/>
          <p:cNvSpPr/>
          <p:nvPr/>
        </p:nvSpPr>
        <p:spPr>
          <a:xfrm>
            <a:off x="1929384" y="2805834"/>
            <a:ext cx="100584" cy="914"/>
          </a:xfrm>
          <a:prstGeom prst="line">
            <a:avLst/>
          </a:prstGeom>
          <a:noFill/>
          <a:ln w="28575">
            <a:solidFill>
              <a:srgbClr val="0F6CB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5" name="Shape 70"/>
          <p:cNvSpPr/>
          <p:nvPr/>
        </p:nvSpPr>
        <p:spPr>
          <a:xfrm>
            <a:off x="3597159" y="2824122"/>
            <a:ext cx="100584" cy="914"/>
          </a:xfrm>
          <a:prstGeom prst="line">
            <a:avLst/>
          </a:prstGeom>
          <a:noFill/>
          <a:ln w="28575">
            <a:solidFill>
              <a:srgbClr val="0F6CB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71"/>
          <p:cNvSpPr/>
          <p:nvPr/>
        </p:nvSpPr>
        <p:spPr>
          <a:xfrm>
            <a:off x="5252223" y="2824122"/>
            <a:ext cx="100584" cy="914"/>
          </a:xfrm>
          <a:prstGeom prst="line">
            <a:avLst/>
          </a:prstGeom>
          <a:noFill/>
          <a:ln w="28575">
            <a:solidFill>
              <a:srgbClr val="0F6CB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7" name="Shape 72"/>
          <p:cNvSpPr/>
          <p:nvPr/>
        </p:nvSpPr>
        <p:spPr>
          <a:xfrm>
            <a:off x="6907287" y="2824122"/>
            <a:ext cx="100584" cy="914"/>
          </a:xfrm>
          <a:prstGeom prst="line">
            <a:avLst/>
          </a:prstGeom>
          <a:noFill/>
          <a:ln w="28575">
            <a:solidFill>
              <a:srgbClr val="0F6CB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9" name="Shape 74"/>
          <p:cNvSpPr/>
          <p:nvPr/>
        </p:nvSpPr>
        <p:spPr>
          <a:xfrm>
            <a:off x="2152393" y="768102"/>
            <a:ext cx="15544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3DBE4"/>
            </a:solidFill>
            <a:prstDash val="solid"/>
          </a:ln>
          <a:effectLst>
            <a:outerShdw blurRad="63500" dist="17780" dir="5400000" algn="bl" rotWithShape="0">
              <a:srgbClr val="3A4A5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0" name="Shape 75"/>
          <p:cNvSpPr/>
          <p:nvPr/>
        </p:nvSpPr>
        <p:spPr>
          <a:xfrm>
            <a:off x="2234689" y="850398"/>
            <a:ext cx="512064" cy="512064"/>
          </a:xfrm>
          <a:prstGeom prst="roundRect">
            <a:avLst>
              <a:gd name="adj" fmla="val 8929"/>
            </a:avLst>
          </a:prstGeom>
          <a:solidFill>
            <a:srgbClr val="1B5FA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1" name="Image 1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26861" y="942570"/>
            <a:ext cx="327721" cy="327721"/>
          </a:xfrm>
          <a:prstGeom prst="rect">
            <a:avLst/>
          </a:prstGeom>
        </p:spPr>
      </p:pic>
      <p:sp>
        <p:nvSpPr>
          <p:cNvPr id="92" name="Text 76"/>
          <p:cNvSpPr/>
          <p:nvPr/>
        </p:nvSpPr>
        <p:spPr>
          <a:xfrm>
            <a:off x="2829049" y="795534"/>
            <a:ext cx="822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Object Storage</a:t>
            </a:r>
          </a:p>
          <a:p>
            <a:pPr indent="0">
              <a:lnSpc>
                <a:spcPct val="92000"/>
              </a:lnSpc>
              <a:buNone/>
            </a:pPr>
            <a:r>
              <a:rPr lang="en-US" sz="900" b="1" dirty="0">
                <a:solidFill>
                  <a:schemeClr val="accent4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S3</a:t>
            </a:r>
          </a:p>
        </p:txBody>
      </p:sp>
      <p:sp>
        <p:nvSpPr>
          <p:cNvPr id="98" name="Shape 80"/>
          <p:cNvSpPr/>
          <p:nvPr/>
        </p:nvSpPr>
        <p:spPr>
          <a:xfrm>
            <a:off x="5705489" y="769739"/>
            <a:ext cx="1125048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3DBE4"/>
            </a:solidFill>
            <a:prstDash val="solid"/>
          </a:ln>
          <a:effectLst>
            <a:outerShdw blurRad="63500" dist="17780" dir="5400000" algn="bl" rotWithShape="0">
              <a:srgbClr val="3A4A5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9" name="Shape 81"/>
          <p:cNvSpPr/>
          <p:nvPr/>
        </p:nvSpPr>
        <p:spPr>
          <a:xfrm>
            <a:off x="5757472" y="886326"/>
            <a:ext cx="370604" cy="512064"/>
          </a:xfrm>
          <a:prstGeom prst="roundRect">
            <a:avLst>
              <a:gd name="adj" fmla="val 8929"/>
            </a:avLst>
          </a:prstGeom>
          <a:solidFill>
            <a:srgbClr val="1453A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0" name="Image 1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24180" y="978497"/>
            <a:ext cx="237187" cy="327721"/>
          </a:xfrm>
          <a:prstGeom prst="rect">
            <a:avLst/>
          </a:prstGeom>
        </p:spPr>
      </p:pic>
      <p:sp>
        <p:nvSpPr>
          <p:cNvPr id="101" name="Text 82"/>
          <p:cNvSpPr/>
          <p:nvPr/>
        </p:nvSpPr>
        <p:spPr>
          <a:xfrm>
            <a:off x="6180059" y="797171"/>
            <a:ext cx="6598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(MI)</a:t>
            </a:r>
            <a:endParaRPr lang="en-US" sz="950" dirty="0"/>
          </a:p>
          <a:p>
            <a:pPr marL="0" indent="0" algn="l">
              <a:lnSpc>
                <a:spcPct val="92000"/>
              </a:lnSpc>
              <a:buNone/>
            </a:pPr>
            <a:r>
              <a:rPr lang="en-US" sz="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SSE encrypted</a:t>
            </a:r>
          </a:p>
          <a:p>
            <a:pPr marL="0" indent="0" algn="l">
              <a:lnSpc>
                <a:spcPct val="92000"/>
              </a:lnSpc>
              <a:buNone/>
            </a:pPr>
            <a:r>
              <a:rPr lang="en-US" sz="900" b="1" dirty="0">
                <a:solidFill>
                  <a:schemeClr val="accent4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r>
              <a:rPr lang="en-US" sz="800" b="1" dirty="0">
                <a:solidFill>
                  <a:schemeClr val="accent4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b="1" dirty="0">
                <a:solidFill>
                  <a:schemeClr val="accent4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POSTGRESQL</a:t>
            </a:r>
          </a:p>
        </p:txBody>
      </p:sp>
      <p:sp>
        <p:nvSpPr>
          <p:cNvPr id="110" name="Shape 88"/>
          <p:cNvSpPr/>
          <p:nvPr/>
        </p:nvSpPr>
        <p:spPr>
          <a:xfrm>
            <a:off x="9097083" y="751452"/>
            <a:ext cx="170078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3DBE4"/>
            </a:solidFill>
            <a:prstDash val="solid"/>
          </a:ln>
          <a:effectLst>
            <a:outerShdw blurRad="63500" dist="17780" dir="5400000" algn="bl" rotWithShape="0">
              <a:srgbClr val="3A4A5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1" name="Shape 89"/>
          <p:cNvSpPr/>
          <p:nvPr/>
        </p:nvSpPr>
        <p:spPr>
          <a:xfrm>
            <a:off x="9155745" y="844263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C777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2" name="Image 2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24874" y="913392"/>
            <a:ext cx="245791" cy="245791"/>
          </a:xfrm>
          <a:prstGeom prst="rect">
            <a:avLst/>
          </a:prstGeom>
        </p:spPr>
      </p:pic>
      <p:sp>
        <p:nvSpPr>
          <p:cNvPr id="113" name="Text 90"/>
          <p:cNvSpPr/>
          <p:nvPr/>
        </p:nvSpPr>
        <p:spPr>
          <a:xfrm>
            <a:off x="9638134" y="766879"/>
            <a:ext cx="1097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LOB Teams</a:t>
            </a:r>
            <a:endParaRPr lang="en-US" sz="950" dirty="0"/>
          </a:p>
          <a:p>
            <a:pPr marL="0" indent="0" algn="l">
              <a:lnSpc>
                <a:spcPct val="92000"/>
              </a:lnSpc>
              <a:buNone/>
            </a:pPr>
            <a:r>
              <a:rPr lang="en-US" sz="73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,Claims ,Servicing, Contact</a:t>
            </a:r>
            <a:endParaRPr lang="en-US" sz="950" dirty="0"/>
          </a:p>
        </p:txBody>
      </p:sp>
      <p:sp>
        <p:nvSpPr>
          <p:cNvPr id="115" name="Shape 92"/>
          <p:cNvSpPr/>
          <p:nvPr/>
        </p:nvSpPr>
        <p:spPr>
          <a:xfrm>
            <a:off x="1152144" y="1333650"/>
            <a:ext cx="914" cy="1042416"/>
          </a:xfrm>
          <a:prstGeom prst="line">
            <a:avLst/>
          </a:prstGeom>
          <a:noFill/>
          <a:ln w="22225">
            <a:solidFill>
              <a:srgbClr val="2E7DD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6" name="Shape 93"/>
          <p:cNvSpPr/>
          <p:nvPr/>
        </p:nvSpPr>
        <p:spPr>
          <a:xfrm>
            <a:off x="546811" y="1589682"/>
            <a:ext cx="1212494" cy="246888"/>
          </a:xfrm>
          <a:prstGeom prst="roundRect">
            <a:avLst>
              <a:gd name="adj" fmla="val 48148"/>
            </a:avLst>
          </a:prstGeom>
          <a:solidFill>
            <a:srgbClr val="FFFBF0"/>
          </a:solidFill>
          <a:ln w="9525">
            <a:solidFill>
              <a:srgbClr val="E0B84D"/>
            </a:solidFill>
            <a:prstDash val="solid"/>
          </a:ln>
          <a:effectLst>
            <a:outerShdw blurRad="63500" dist="17780" dir="5400000" algn="bl" rotWithShape="0">
              <a:srgbClr val="3A4A5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7" name="Image 2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9107" y="1644546"/>
            <a:ext cx="137160" cy="137160"/>
          </a:xfrm>
          <a:prstGeom prst="rect">
            <a:avLst/>
          </a:prstGeom>
        </p:spPr>
      </p:pic>
      <p:sp>
        <p:nvSpPr>
          <p:cNvPr id="118" name="Text 94"/>
          <p:cNvSpPr/>
          <p:nvPr/>
        </p:nvSpPr>
        <p:spPr>
          <a:xfrm>
            <a:off x="784555" y="1589682"/>
            <a:ext cx="93817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2.0 </a:t>
            </a:r>
            <a:endParaRPr lang="en-US" sz="720" dirty="0"/>
          </a:p>
        </p:txBody>
      </p:sp>
      <p:sp>
        <p:nvSpPr>
          <p:cNvPr id="123" name="Shape 98"/>
          <p:cNvSpPr/>
          <p:nvPr/>
        </p:nvSpPr>
        <p:spPr>
          <a:xfrm flipV="1">
            <a:off x="4414832" y="1438892"/>
            <a:ext cx="0" cy="982163"/>
          </a:xfrm>
          <a:prstGeom prst="line">
            <a:avLst/>
          </a:prstGeom>
          <a:noFill/>
          <a:ln w="22225">
            <a:solidFill>
              <a:srgbClr val="2E7DD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4" name="Shape 99"/>
          <p:cNvSpPr/>
          <p:nvPr/>
        </p:nvSpPr>
        <p:spPr>
          <a:xfrm>
            <a:off x="4136721" y="1635402"/>
            <a:ext cx="1159459" cy="246888"/>
          </a:xfrm>
          <a:prstGeom prst="roundRect">
            <a:avLst>
              <a:gd name="adj" fmla="val 48148"/>
            </a:avLst>
          </a:prstGeom>
          <a:solidFill>
            <a:srgbClr val="FFFBF0"/>
          </a:solidFill>
          <a:ln w="9525">
            <a:solidFill>
              <a:srgbClr val="E0B84D"/>
            </a:solidFill>
            <a:prstDash val="solid"/>
          </a:ln>
          <a:effectLst>
            <a:outerShdw blurRad="63500" dist="17780" dir="5400000" algn="bl" rotWithShape="0">
              <a:srgbClr val="3A4A5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5" name="Image 2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19017" y="1690266"/>
            <a:ext cx="137160" cy="137160"/>
          </a:xfrm>
          <a:prstGeom prst="rect">
            <a:avLst/>
          </a:prstGeom>
        </p:spPr>
      </p:pic>
      <p:sp>
        <p:nvSpPr>
          <p:cNvPr id="126" name="Text 100"/>
          <p:cNvSpPr/>
          <p:nvPr/>
        </p:nvSpPr>
        <p:spPr>
          <a:xfrm>
            <a:off x="4374465" y="1635402"/>
            <a:ext cx="885139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Identity</a:t>
            </a:r>
            <a:endParaRPr lang="en-US" sz="720" dirty="0"/>
          </a:p>
        </p:txBody>
      </p:sp>
      <p:sp>
        <p:nvSpPr>
          <p:cNvPr id="127" name="Shape 101"/>
          <p:cNvSpPr/>
          <p:nvPr/>
        </p:nvSpPr>
        <p:spPr>
          <a:xfrm flipV="1">
            <a:off x="7773314" y="1370226"/>
            <a:ext cx="914" cy="1042416"/>
          </a:xfrm>
          <a:prstGeom prst="line">
            <a:avLst/>
          </a:prstGeom>
          <a:noFill/>
          <a:ln w="22225">
            <a:solidFill>
              <a:srgbClr val="2E7DD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8" name="Shape 102"/>
          <p:cNvSpPr/>
          <p:nvPr/>
        </p:nvSpPr>
        <p:spPr>
          <a:xfrm>
            <a:off x="7370977" y="1653514"/>
            <a:ext cx="868680" cy="246888"/>
          </a:xfrm>
          <a:prstGeom prst="roundRect">
            <a:avLst>
              <a:gd name="adj" fmla="val 48148"/>
            </a:avLst>
          </a:prstGeom>
          <a:solidFill>
            <a:srgbClr val="FFFBF0"/>
          </a:solidFill>
          <a:ln w="9525">
            <a:solidFill>
              <a:srgbClr val="E0B84D"/>
            </a:solidFill>
            <a:prstDash val="solid"/>
          </a:ln>
          <a:effectLst>
            <a:outerShdw blurRad="63500" dist="17780" dir="5400000" algn="bl" rotWithShape="0">
              <a:srgbClr val="3A4A5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9" name="Image 2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53273" y="1708378"/>
            <a:ext cx="137160" cy="137160"/>
          </a:xfrm>
          <a:prstGeom prst="rect">
            <a:avLst/>
          </a:prstGeom>
        </p:spPr>
      </p:pic>
      <p:sp>
        <p:nvSpPr>
          <p:cNvPr id="130" name="Text 103"/>
          <p:cNvSpPr/>
          <p:nvPr/>
        </p:nvSpPr>
        <p:spPr>
          <a:xfrm>
            <a:off x="7608721" y="165351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ID</a:t>
            </a:r>
            <a:endParaRPr lang="en-US" sz="720" dirty="0"/>
          </a:p>
        </p:txBody>
      </p:sp>
      <p:sp>
        <p:nvSpPr>
          <p:cNvPr id="132" name="Shape 105"/>
          <p:cNvSpPr/>
          <p:nvPr/>
        </p:nvSpPr>
        <p:spPr>
          <a:xfrm>
            <a:off x="2245676" y="1599081"/>
            <a:ext cx="1424635" cy="246888"/>
          </a:xfrm>
          <a:prstGeom prst="roundRect">
            <a:avLst>
              <a:gd name="adj" fmla="val 48148"/>
            </a:avLst>
          </a:prstGeom>
          <a:solidFill>
            <a:srgbClr val="FFFBF0"/>
          </a:solidFill>
          <a:ln w="9525">
            <a:solidFill>
              <a:srgbClr val="E0B84D"/>
            </a:solidFill>
            <a:prstDash val="solid"/>
          </a:ln>
          <a:effectLst>
            <a:outerShdw blurRad="63500" dist="17780" dir="5400000" algn="bl" rotWithShape="0">
              <a:srgbClr val="3A4A5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3" name="Image 25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327972" y="1653945"/>
            <a:ext cx="137160" cy="137160"/>
          </a:xfrm>
          <a:prstGeom prst="rect">
            <a:avLst/>
          </a:prstGeom>
        </p:spPr>
      </p:pic>
      <p:sp>
        <p:nvSpPr>
          <p:cNvPr id="134" name="Text 106"/>
          <p:cNvSpPr/>
          <p:nvPr/>
        </p:nvSpPr>
        <p:spPr>
          <a:xfrm>
            <a:off x="2483420" y="1599081"/>
            <a:ext cx="115031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Identity </a:t>
            </a:r>
            <a:endParaRPr lang="en-US" sz="720" dirty="0"/>
          </a:p>
        </p:txBody>
      </p:sp>
      <p:sp>
        <p:nvSpPr>
          <p:cNvPr id="136" name="Shape 108"/>
          <p:cNvSpPr/>
          <p:nvPr/>
        </p:nvSpPr>
        <p:spPr>
          <a:xfrm>
            <a:off x="5786299" y="1617635"/>
            <a:ext cx="1424635" cy="246888"/>
          </a:xfrm>
          <a:prstGeom prst="roundRect">
            <a:avLst>
              <a:gd name="adj" fmla="val 48148"/>
            </a:avLst>
          </a:prstGeom>
          <a:solidFill>
            <a:srgbClr val="FFFBF0"/>
          </a:solidFill>
          <a:ln w="9525">
            <a:solidFill>
              <a:srgbClr val="E0B84D"/>
            </a:solidFill>
            <a:prstDash val="solid"/>
          </a:ln>
          <a:effectLst>
            <a:outerShdw blurRad="63500" dist="17780" dir="5400000" algn="bl" rotWithShape="0">
              <a:srgbClr val="3A4A5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7" name="Image 26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68595" y="1672499"/>
            <a:ext cx="137160" cy="137160"/>
          </a:xfrm>
          <a:prstGeom prst="rect">
            <a:avLst/>
          </a:prstGeom>
        </p:spPr>
      </p:pic>
      <p:sp>
        <p:nvSpPr>
          <p:cNvPr id="138" name="Text 109"/>
          <p:cNvSpPr/>
          <p:nvPr/>
        </p:nvSpPr>
        <p:spPr>
          <a:xfrm>
            <a:off x="6024043" y="1617635"/>
            <a:ext cx="115031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Identity ·</a:t>
            </a:r>
            <a:endParaRPr lang="en-US" sz="720" dirty="0"/>
          </a:p>
        </p:txBody>
      </p:sp>
      <p:sp>
        <p:nvSpPr>
          <p:cNvPr id="143" name="Shape 113"/>
          <p:cNvSpPr/>
          <p:nvPr/>
        </p:nvSpPr>
        <p:spPr>
          <a:xfrm>
            <a:off x="6662433" y="3564329"/>
            <a:ext cx="4965192" cy="914"/>
          </a:xfrm>
          <a:prstGeom prst="line">
            <a:avLst/>
          </a:prstGeom>
          <a:noFill/>
          <a:ln w="15875">
            <a:solidFill>
              <a:srgbClr val="3949A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5" name="Shape 115"/>
          <p:cNvSpPr/>
          <p:nvPr/>
        </p:nvSpPr>
        <p:spPr>
          <a:xfrm flipV="1">
            <a:off x="11627625" y="3180738"/>
            <a:ext cx="0" cy="361188"/>
          </a:xfrm>
          <a:prstGeom prst="line">
            <a:avLst/>
          </a:prstGeom>
          <a:noFill/>
          <a:ln w="15875">
            <a:solidFill>
              <a:srgbClr val="3949AB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6" name="Text 116"/>
          <p:cNvSpPr/>
          <p:nvPr/>
        </p:nvSpPr>
        <p:spPr>
          <a:xfrm>
            <a:off x="7581290" y="337380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394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field values back to TREX  ·  REST API</a:t>
            </a:r>
            <a:endParaRPr lang="en-US" sz="1000" b="1" dirty="0"/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326849B2-8CAB-ECA4-B904-427C8C636C21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8632850" y="1023144"/>
            <a:ext cx="386055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Shape 114"/>
          <p:cNvSpPr/>
          <p:nvPr/>
        </p:nvSpPr>
        <p:spPr>
          <a:xfrm flipV="1">
            <a:off x="6673942" y="3271452"/>
            <a:ext cx="914" cy="307049"/>
          </a:xfrm>
          <a:prstGeom prst="line">
            <a:avLst/>
          </a:prstGeom>
          <a:noFill/>
          <a:ln w="15875">
            <a:solidFill>
              <a:srgbClr val="3949A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0D8DD994-EB4E-4BE2-151B-0950E1E14EB7}"/>
              </a:ext>
            </a:extLst>
          </p:cNvPr>
          <p:cNvCxnSpPr>
            <a:cxnSpLocks/>
          </p:cNvCxnSpPr>
          <p:nvPr/>
        </p:nvCxnSpPr>
        <p:spPr>
          <a:xfrm flipV="1">
            <a:off x="2544792" y="1449506"/>
            <a:ext cx="0" cy="92656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F9CA5052-DCD4-2950-3E32-CBB1BA72E6B0}"/>
              </a:ext>
            </a:extLst>
          </p:cNvPr>
          <p:cNvCxnSpPr>
            <a:cxnSpLocks/>
            <a:stCxn id="62" idx="0"/>
          </p:cNvCxnSpPr>
          <p:nvPr/>
        </p:nvCxnSpPr>
        <p:spPr>
          <a:xfrm flipV="1">
            <a:off x="6130047" y="1417326"/>
            <a:ext cx="0" cy="97702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Shape 17">
            <a:extLst>
              <a:ext uri="{FF2B5EF4-FFF2-40B4-BE49-F238E27FC236}">
                <a16:creationId xmlns:a16="http://schemas.microsoft.com/office/drawing/2014/main" id="{9D20A219-B664-A540-A7EC-7C8C90995598}"/>
              </a:ext>
            </a:extLst>
          </p:cNvPr>
          <p:cNvSpPr/>
          <p:nvPr/>
        </p:nvSpPr>
        <p:spPr>
          <a:xfrm>
            <a:off x="10213848" y="4098395"/>
            <a:ext cx="1927601" cy="1077550"/>
          </a:xfrm>
          <a:prstGeom prst="roundRect">
            <a:avLst>
              <a:gd name="adj" fmla="val 8108"/>
            </a:avLst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rgbClr val="D3DBE4"/>
            </a:solidFill>
            <a:prstDash val="solid"/>
          </a:ln>
          <a:effectLst>
            <a:outerShdw blurRad="63500" dist="17780" dir="5400000" algn="bl" rotWithShape="0">
              <a:srgbClr val="3A4A5A">
                <a:alpha val="16000"/>
              </a:srgbClr>
            </a:outerShdw>
          </a:effectLst>
        </p:spPr>
        <p:txBody>
          <a:bodyPr/>
          <a:lstStyle/>
          <a:p>
            <a:endParaRPr lang="en-US" dirty="0">
              <a:highlight>
                <a:srgbClr val="0000FF"/>
              </a:highlight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7358D9B1-F808-0622-3C1F-F4A2F912D256}"/>
              </a:ext>
            </a:extLst>
          </p:cNvPr>
          <p:cNvSpPr txBox="1"/>
          <p:nvPr/>
        </p:nvSpPr>
        <p:spPr>
          <a:xfrm>
            <a:off x="10825439" y="4303163"/>
            <a:ext cx="7543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EIS</a:t>
            </a:r>
          </a:p>
        </p:txBody>
      </p:sp>
      <p:sp>
        <p:nvSpPr>
          <p:cNvPr id="160" name="Shape 2"/>
          <p:cNvSpPr/>
          <p:nvPr/>
        </p:nvSpPr>
        <p:spPr>
          <a:xfrm>
            <a:off x="171906" y="3569443"/>
            <a:ext cx="1870773" cy="1024128"/>
          </a:xfrm>
          <a:prstGeom prst="roundRect">
            <a:avLst>
              <a:gd name="adj" fmla="val 8036"/>
            </a:avLst>
          </a:prstGeom>
          <a:ln w="15875">
            <a:solidFill>
              <a:srgbClr val="8A4FB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61" name="Text 3"/>
          <p:cNvSpPr/>
          <p:nvPr/>
        </p:nvSpPr>
        <p:spPr>
          <a:xfrm>
            <a:off x="382218" y="4140857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8A4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 MANUAL HANDLING (HITL)</a:t>
            </a:r>
            <a:endParaRPr lang="en-US" sz="850" dirty="0"/>
          </a:p>
        </p:txBody>
      </p:sp>
      <p:sp>
        <p:nvSpPr>
          <p:cNvPr id="162" name="Shape 8"/>
          <p:cNvSpPr/>
          <p:nvPr/>
        </p:nvSpPr>
        <p:spPr>
          <a:xfrm>
            <a:off x="217626" y="3807187"/>
            <a:ext cx="1700784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3DBE4"/>
            </a:solidFill>
            <a:prstDash val="solid"/>
          </a:ln>
          <a:effectLst>
            <a:outerShdw blurRad="63500" dist="17780" dir="5400000" algn="bl" rotWithShape="0">
              <a:srgbClr val="3A4A5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3" name="Shape 9"/>
          <p:cNvSpPr/>
          <p:nvPr/>
        </p:nvSpPr>
        <p:spPr>
          <a:xfrm>
            <a:off x="4866661" y="3600625"/>
            <a:ext cx="402008" cy="386230"/>
          </a:xfrm>
          <a:prstGeom prst="roundRect">
            <a:avLst>
              <a:gd name="adj" fmla="val 8929"/>
            </a:avLst>
          </a:prstGeom>
          <a:solidFill>
            <a:srgbClr val="8A4FB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4" name="Image 1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7611" y="3646455"/>
            <a:ext cx="257285" cy="257285"/>
          </a:xfrm>
          <a:prstGeom prst="rect">
            <a:avLst/>
          </a:prstGeom>
        </p:spPr>
      </p:pic>
      <p:sp>
        <p:nvSpPr>
          <p:cNvPr id="165" name="Text 10"/>
          <p:cNvSpPr/>
          <p:nvPr/>
        </p:nvSpPr>
        <p:spPr>
          <a:xfrm>
            <a:off x="894282" y="3834619"/>
            <a:ext cx="9692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 Team</a:t>
            </a:r>
            <a:endParaRPr lang="en-US" sz="950" dirty="0"/>
          </a:p>
          <a:p>
            <a:pPr marL="0" indent="0" algn="l">
              <a:lnSpc>
                <a:spcPct val="92000"/>
              </a:lnSpc>
              <a:buNone/>
            </a:pPr>
            <a:r>
              <a:rPr lang="en-US" sz="9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Inquiry Mailbox · manual</a:t>
            </a:r>
            <a:endParaRPr lang="en-US" sz="9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181" name="Shape 20"/>
          <p:cNvSpPr/>
          <p:nvPr/>
        </p:nvSpPr>
        <p:spPr>
          <a:xfrm>
            <a:off x="320040" y="5551716"/>
            <a:ext cx="155448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5875">
            <a:solidFill>
              <a:srgbClr val="3949AB"/>
            </a:solidFill>
            <a:prstDash val="solid"/>
          </a:ln>
          <a:effectLst>
            <a:outerShdw blurRad="63500" dist="17780" dir="5400000" algn="bl" rotWithShape="0">
              <a:srgbClr val="3A4A5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2" name="Shape 21"/>
          <p:cNvSpPr/>
          <p:nvPr/>
        </p:nvSpPr>
        <p:spPr>
          <a:xfrm>
            <a:off x="320040" y="5525838"/>
            <a:ext cx="82296" cy="859536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3" name="Shape 22"/>
          <p:cNvSpPr/>
          <p:nvPr/>
        </p:nvSpPr>
        <p:spPr>
          <a:xfrm>
            <a:off x="292608" y="5388678"/>
            <a:ext cx="329184" cy="329184"/>
          </a:xfrm>
          <a:prstGeom prst="ellipse">
            <a:avLst/>
          </a:prstGeom>
          <a:solidFill>
            <a:srgbClr val="3949AB"/>
          </a:solidFill>
          <a:ln w="19050">
            <a:solidFill>
              <a:srgbClr val="FFFFFF"/>
            </a:solidFill>
            <a:prstDash val="solid"/>
          </a:ln>
          <a:effectLst>
            <a:outerShdw blurRad="63500" dist="17780" dir="5400000" algn="bl" rotWithShape="0">
              <a:srgbClr val="3A4A5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4" name="Text 23"/>
          <p:cNvSpPr/>
          <p:nvPr/>
        </p:nvSpPr>
        <p:spPr>
          <a:xfrm>
            <a:off x="292608" y="538867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87" name="Text 25"/>
          <p:cNvSpPr/>
          <p:nvPr/>
        </p:nvSpPr>
        <p:spPr>
          <a:xfrm>
            <a:off x="484632" y="5739776"/>
            <a:ext cx="143377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2000"/>
              </a:lnSpc>
            </a:pPr>
            <a:r>
              <a:rPr lang="en-US" sz="100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</a:t>
            </a:r>
          </a:p>
          <a:p>
            <a:pPr>
              <a:lnSpc>
                <a:spcPct val="92000"/>
              </a:lnSpc>
            </a:pPr>
            <a:r>
              <a:rPr lang="en-US" sz="9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manual · </a:t>
            </a:r>
          </a:p>
          <a:p>
            <a:pPr marL="0" indent="0" algn="l">
              <a:lnSpc>
                <a:spcPct val="92000"/>
              </a:lnSpc>
              <a:buNone/>
            </a:pPr>
            <a:r>
              <a:rPr lang="en-US" sz="9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type + category</a:t>
            </a:r>
          </a:p>
          <a:p>
            <a:pPr>
              <a:lnSpc>
                <a:spcPct val="92000"/>
              </a:lnSpc>
            </a:pPr>
            <a:r>
              <a:rPr lang="en-US" sz="900" b="1" dirty="0">
                <a:solidFill>
                  <a:schemeClr val="accent4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LAMBDA  +  </a:t>
            </a:r>
            <a:r>
              <a:rPr lang="en-US" sz="80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KONG API (MS Graph for Email)</a:t>
            </a:r>
          </a:p>
          <a:p>
            <a:pPr marL="0" indent="0" algn="l">
              <a:lnSpc>
                <a:spcPct val="92000"/>
              </a:lnSpc>
              <a:buNone/>
            </a:pPr>
            <a:endParaRPr lang="en-US" sz="900" dirty="0"/>
          </a:p>
        </p:txBody>
      </p:sp>
      <p:sp>
        <p:nvSpPr>
          <p:cNvPr id="188" name="Shape 26"/>
          <p:cNvSpPr/>
          <p:nvPr/>
        </p:nvSpPr>
        <p:spPr>
          <a:xfrm>
            <a:off x="4369044" y="5569050"/>
            <a:ext cx="155448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5875">
            <a:solidFill>
              <a:srgbClr val="283593"/>
            </a:solidFill>
            <a:prstDash val="solid"/>
          </a:ln>
          <a:effectLst>
            <a:outerShdw blurRad="63500" dist="17780" dir="5400000" algn="bl" rotWithShape="0">
              <a:srgbClr val="3A4A5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9" name="Shape 27"/>
          <p:cNvSpPr/>
          <p:nvPr/>
        </p:nvSpPr>
        <p:spPr>
          <a:xfrm>
            <a:off x="4377133" y="5555334"/>
            <a:ext cx="82296" cy="859536"/>
          </a:xfrm>
          <a:prstGeom prst="rect">
            <a:avLst/>
          </a:prstGeom>
          <a:solidFill>
            <a:srgbClr val="2835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0" name="Shape 28"/>
          <p:cNvSpPr/>
          <p:nvPr/>
        </p:nvSpPr>
        <p:spPr>
          <a:xfrm>
            <a:off x="4349701" y="5418174"/>
            <a:ext cx="329184" cy="329184"/>
          </a:xfrm>
          <a:prstGeom prst="ellipse">
            <a:avLst/>
          </a:prstGeom>
          <a:solidFill>
            <a:srgbClr val="283593"/>
          </a:solidFill>
          <a:ln w="19050">
            <a:solidFill>
              <a:srgbClr val="FFFFFF"/>
            </a:solidFill>
            <a:prstDash val="solid"/>
          </a:ln>
          <a:effectLst>
            <a:outerShdw blurRad="63500" dist="17780" dir="5400000" algn="bl" rotWithShape="0">
              <a:srgbClr val="3A4A5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1" name="Text 29"/>
          <p:cNvSpPr/>
          <p:nvPr/>
        </p:nvSpPr>
        <p:spPr>
          <a:xfrm>
            <a:off x="4349701" y="541817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2" name="Shape 30"/>
          <p:cNvSpPr/>
          <p:nvPr/>
        </p:nvSpPr>
        <p:spPr>
          <a:xfrm>
            <a:off x="5565853" y="5655918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2835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3" name="Image 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07001" y="5697066"/>
            <a:ext cx="192024" cy="192024"/>
          </a:xfrm>
          <a:prstGeom prst="rect">
            <a:avLst/>
          </a:prstGeom>
        </p:spPr>
      </p:pic>
      <p:sp>
        <p:nvSpPr>
          <p:cNvPr id="194" name="Text 31"/>
          <p:cNvSpPr/>
          <p:nvPr/>
        </p:nvSpPr>
        <p:spPr>
          <a:xfrm>
            <a:off x="4511761" y="5840464"/>
            <a:ext cx="121574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00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Lookup</a:t>
            </a:r>
            <a:endParaRPr lang="en-US" sz="1000" dirty="0"/>
          </a:p>
          <a:p>
            <a:pPr marL="0" indent="0" algn="l">
              <a:lnSpc>
                <a:spcPct val="92000"/>
              </a:lnSpc>
              <a:buNone/>
            </a:pPr>
            <a:r>
              <a:rPr lang="en-US" sz="9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Group/Policy/Cert/Claim</a:t>
            </a:r>
          </a:p>
          <a:p>
            <a:pPr>
              <a:lnSpc>
                <a:spcPct val="92000"/>
              </a:lnSpc>
            </a:pPr>
            <a:r>
              <a:rPr lang="en-US" sz="900" b="1" dirty="0">
                <a:solidFill>
                  <a:schemeClr val="accent4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LAMBDA  + </a:t>
            </a:r>
            <a:r>
              <a:rPr lang="en-US" sz="80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KONG API (REST API CALLS)</a:t>
            </a:r>
          </a:p>
          <a:p>
            <a:pPr marL="0" indent="0" algn="l">
              <a:lnSpc>
                <a:spcPct val="92000"/>
              </a:lnSpc>
              <a:buNone/>
            </a:pPr>
            <a:endParaRPr lang="en-US" sz="900" dirty="0"/>
          </a:p>
        </p:txBody>
      </p:sp>
      <p:sp>
        <p:nvSpPr>
          <p:cNvPr id="195" name="Shape 32"/>
          <p:cNvSpPr/>
          <p:nvPr/>
        </p:nvSpPr>
        <p:spPr>
          <a:xfrm>
            <a:off x="6359430" y="5605626"/>
            <a:ext cx="155448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5875">
            <a:solidFill>
              <a:srgbClr val="283593"/>
            </a:solidFill>
            <a:prstDash val="solid"/>
          </a:ln>
          <a:effectLst>
            <a:outerShdw blurRad="63500" dist="17780" dir="5400000" algn="bl" rotWithShape="0">
              <a:srgbClr val="3A4A5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6" name="Shape 33"/>
          <p:cNvSpPr/>
          <p:nvPr/>
        </p:nvSpPr>
        <p:spPr>
          <a:xfrm>
            <a:off x="6359430" y="5605626"/>
            <a:ext cx="82296" cy="859536"/>
          </a:xfrm>
          <a:prstGeom prst="rect">
            <a:avLst/>
          </a:prstGeom>
          <a:solidFill>
            <a:srgbClr val="2835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7" name="Shape 34"/>
          <p:cNvSpPr/>
          <p:nvPr/>
        </p:nvSpPr>
        <p:spPr>
          <a:xfrm>
            <a:off x="6331998" y="5468466"/>
            <a:ext cx="329184" cy="329184"/>
          </a:xfrm>
          <a:prstGeom prst="ellipse">
            <a:avLst/>
          </a:prstGeom>
          <a:solidFill>
            <a:srgbClr val="283593"/>
          </a:solidFill>
          <a:ln w="19050">
            <a:solidFill>
              <a:srgbClr val="FFFFFF"/>
            </a:solidFill>
            <a:prstDash val="solid"/>
          </a:ln>
          <a:effectLst>
            <a:outerShdw blurRad="63500" dist="17780" dir="5400000" algn="bl" rotWithShape="0">
              <a:srgbClr val="3A4A5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8" name="Text 35"/>
          <p:cNvSpPr/>
          <p:nvPr/>
        </p:nvSpPr>
        <p:spPr>
          <a:xfrm>
            <a:off x="6331998" y="546846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9" name="Shape 36"/>
          <p:cNvSpPr/>
          <p:nvPr/>
        </p:nvSpPr>
        <p:spPr>
          <a:xfrm>
            <a:off x="7548150" y="5706210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2835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0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298" y="5747358"/>
            <a:ext cx="192024" cy="192024"/>
          </a:xfrm>
          <a:prstGeom prst="rect">
            <a:avLst/>
          </a:prstGeom>
        </p:spPr>
      </p:pic>
      <p:sp>
        <p:nvSpPr>
          <p:cNvPr id="201" name="Text 37"/>
          <p:cNvSpPr/>
          <p:nvPr/>
        </p:nvSpPr>
        <p:spPr>
          <a:xfrm>
            <a:off x="6524022" y="5879946"/>
            <a:ext cx="9875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00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Enrich doc </a:t>
            </a:r>
            <a:endParaRPr lang="en-US" sz="1000" dirty="0"/>
          </a:p>
          <a:p>
            <a:pPr marL="0" indent="0" algn="l">
              <a:lnSpc>
                <a:spcPct val="92000"/>
              </a:lnSpc>
              <a:buNone/>
            </a:pPr>
            <a:r>
              <a:rPr lang="en-US" sz="9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FileNet E-Folders</a:t>
            </a:r>
          </a:p>
          <a:p>
            <a:pPr>
              <a:lnSpc>
                <a:spcPct val="92000"/>
              </a:lnSpc>
            </a:pPr>
            <a:r>
              <a:rPr lang="en-US" sz="900" b="1" dirty="0">
                <a:solidFill>
                  <a:schemeClr val="accent4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LAMBDA </a:t>
            </a:r>
          </a:p>
          <a:p>
            <a:pPr marL="0" indent="0" algn="l">
              <a:lnSpc>
                <a:spcPct val="92000"/>
              </a:lnSpc>
              <a:buNone/>
            </a:pPr>
            <a:endParaRPr lang="en-US" sz="900" dirty="0"/>
          </a:p>
        </p:txBody>
      </p:sp>
      <p:sp>
        <p:nvSpPr>
          <p:cNvPr id="202" name="Shape 38"/>
          <p:cNvSpPr/>
          <p:nvPr/>
        </p:nvSpPr>
        <p:spPr>
          <a:xfrm>
            <a:off x="8369447" y="5578281"/>
            <a:ext cx="155448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5875">
            <a:solidFill>
              <a:srgbClr val="C77700"/>
            </a:solidFill>
            <a:prstDash val="solid"/>
          </a:ln>
          <a:effectLst>
            <a:outerShdw blurRad="63500" dist="17780" dir="5400000" algn="bl" rotWithShape="0">
              <a:srgbClr val="3A4A5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3" name="Shape 39"/>
          <p:cNvSpPr/>
          <p:nvPr/>
        </p:nvSpPr>
        <p:spPr>
          <a:xfrm>
            <a:off x="8369447" y="5578281"/>
            <a:ext cx="82296" cy="859536"/>
          </a:xfrm>
          <a:prstGeom prst="rect">
            <a:avLst/>
          </a:prstGeom>
          <a:solidFill>
            <a:srgbClr val="C77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4" name="Shape 40"/>
          <p:cNvSpPr/>
          <p:nvPr/>
        </p:nvSpPr>
        <p:spPr>
          <a:xfrm>
            <a:off x="8342015" y="5441121"/>
            <a:ext cx="329184" cy="329184"/>
          </a:xfrm>
          <a:prstGeom prst="ellipse">
            <a:avLst/>
          </a:prstGeom>
          <a:solidFill>
            <a:srgbClr val="C77700"/>
          </a:solidFill>
          <a:ln w="19050">
            <a:solidFill>
              <a:srgbClr val="FFFFFF"/>
            </a:solidFill>
            <a:prstDash val="solid"/>
          </a:ln>
          <a:effectLst>
            <a:outerShdw blurRad="63500" dist="17780" dir="5400000" algn="bl" rotWithShape="0">
              <a:srgbClr val="3A4A5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5" name="Text 41"/>
          <p:cNvSpPr/>
          <p:nvPr/>
        </p:nvSpPr>
        <p:spPr>
          <a:xfrm>
            <a:off x="8342015" y="5441121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06" name="Shape 42"/>
          <p:cNvSpPr/>
          <p:nvPr/>
        </p:nvSpPr>
        <p:spPr>
          <a:xfrm>
            <a:off x="9558167" y="5678865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C777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7" name="Image 8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99315" y="5720013"/>
            <a:ext cx="192024" cy="192024"/>
          </a:xfrm>
          <a:prstGeom prst="rect">
            <a:avLst/>
          </a:prstGeom>
        </p:spPr>
      </p:pic>
      <p:sp>
        <p:nvSpPr>
          <p:cNvPr id="208" name="Text 43"/>
          <p:cNvSpPr/>
          <p:nvPr/>
        </p:nvSpPr>
        <p:spPr>
          <a:xfrm>
            <a:off x="8534039" y="5852601"/>
            <a:ext cx="9875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00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Notify</a:t>
            </a:r>
            <a:endParaRPr lang="en-US" sz="1000" dirty="0"/>
          </a:p>
          <a:p>
            <a:pPr marL="0" indent="0" algn="l">
              <a:lnSpc>
                <a:spcPct val="92000"/>
              </a:lnSpc>
              <a:buNone/>
            </a:pPr>
            <a:r>
              <a:rPr lang="en-US" sz="9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if Print = No</a:t>
            </a:r>
          </a:p>
          <a:p>
            <a:pPr>
              <a:lnSpc>
                <a:spcPct val="92000"/>
              </a:lnSpc>
            </a:pPr>
            <a:r>
              <a:rPr lang="en-US" sz="900" b="1" dirty="0">
                <a:solidFill>
                  <a:schemeClr val="accent4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LAMBDA + SNS</a:t>
            </a:r>
          </a:p>
          <a:p>
            <a:pPr marL="0" indent="0" algn="l">
              <a:lnSpc>
                <a:spcPct val="92000"/>
              </a:lnSpc>
              <a:buNone/>
            </a:pPr>
            <a:endParaRPr lang="en-US" sz="900" dirty="0"/>
          </a:p>
        </p:txBody>
      </p:sp>
      <p:sp>
        <p:nvSpPr>
          <p:cNvPr id="209" name="Shape 44"/>
          <p:cNvSpPr/>
          <p:nvPr/>
        </p:nvSpPr>
        <p:spPr>
          <a:xfrm>
            <a:off x="1863546" y="5939382"/>
            <a:ext cx="601586" cy="17138"/>
          </a:xfrm>
          <a:prstGeom prst="line">
            <a:avLst/>
          </a:prstGeom>
          <a:noFill/>
          <a:ln w="28575">
            <a:solidFill>
              <a:srgbClr val="0F6CB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0" name="Shape 45"/>
          <p:cNvSpPr/>
          <p:nvPr/>
        </p:nvSpPr>
        <p:spPr>
          <a:xfrm>
            <a:off x="3792021" y="5981482"/>
            <a:ext cx="584211" cy="914"/>
          </a:xfrm>
          <a:prstGeom prst="line">
            <a:avLst/>
          </a:prstGeom>
          <a:noFill/>
          <a:ln w="28575">
            <a:solidFill>
              <a:srgbClr val="0F6CB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2" name="Shape 113">
            <a:extLst>
              <a:ext uri="{FF2B5EF4-FFF2-40B4-BE49-F238E27FC236}">
                <a16:creationId xmlns:a16="http://schemas.microsoft.com/office/drawing/2014/main" id="{40B87A9A-1B0B-1CCB-5E5B-22C8605C8317}"/>
              </a:ext>
            </a:extLst>
          </p:cNvPr>
          <p:cNvSpPr/>
          <p:nvPr/>
        </p:nvSpPr>
        <p:spPr>
          <a:xfrm flipV="1">
            <a:off x="3557016" y="4012842"/>
            <a:ext cx="8287052" cy="10381"/>
          </a:xfrm>
          <a:prstGeom prst="line">
            <a:avLst/>
          </a:prstGeom>
          <a:noFill/>
          <a:ln w="15875">
            <a:solidFill>
              <a:srgbClr val="00B050"/>
            </a:solidFill>
            <a:prstDash val="dash"/>
          </a:ln>
        </p:spPr>
        <p:txBody>
          <a:bodyPr/>
          <a:lstStyle/>
          <a:p>
            <a:endParaRPr lang="en-US" dirty="0">
              <a:highlight>
                <a:srgbClr val="008000"/>
              </a:highlight>
            </a:endParaRPr>
          </a:p>
        </p:txBody>
      </p:sp>
      <p:sp>
        <p:nvSpPr>
          <p:cNvPr id="213" name="Shape 115">
            <a:extLst>
              <a:ext uri="{FF2B5EF4-FFF2-40B4-BE49-F238E27FC236}">
                <a16:creationId xmlns:a16="http://schemas.microsoft.com/office/drawing/2014/main" id="{D6D26CE9-5211-A548-2609-311131913214}"/>
              </a:ext>
            </a:extLst>
          </p:cNvPr>
          <p:cNvSpPr/>
          <p:nvPr/>
        </p:nvSpPr>
        <p:spPr>
          <a:xfrm flipH="1" flipV="1">
            <a:off x="11817095" y="3180737"/>
            <a:ext cx="1" cy="832105"/>
          </a:xfrm>
          <a:prstGeom prst="line">
            <a:avLst/>
          </a:prstGeom>
          <a:noFill/>
          <a:ln w="15875">
            <a:solidFill>
              <a:srgbClr val="00B050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5F5B4816-AE6F-76DF-C0F5-B922CDA8A971}"/>
              </a:ext>
            </a:extLst>
          </p:cNvPr>
          <p:cNvSpPr txBox="1"/>
          <p:nvPr/>
        </p:nvSpPr>
        <p:spPr>
          <a:xfrm>
            <a:off x="3767730" y="3976032"/>
            <a:ext cx="1475865" cy="5293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2000"/>
              </a:lnSpc>
            </a:pPr>
            <a:r>
              <a:rPr lang="en-US" sz="10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Doc to TREX</a:t>
            </a:r>
            <a:endParaRPr lang="en-US" sz="1000" dirty="0">
              <a:solidFill>
                <a:srgbClr val="0070C0"/>
              </a:solidFill>
            </a:endParaRPr>
          </a:p>
          <a:p>
            <a:pPr>
              <a:lnSpc>
                <a:spcPct val="92000"/>
              </a:lnSpc>
            </a:pPr>
            <a:r>
              <a:rPr lang="en-US" sz="1000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</a:t>
            </a:r>
            <a:endParaRPr lang="en-US" sz="1000" dirty="0">
              <a:solidFill>
                <a:srgbClr val="0070C0"/>
              </a:solidFill>
            </a:endParaRPr>
          </a:p>
          <a:p>
            <a:endParaRPr lang="en-US" sz="1000" dirty="0"/>
          </a:p>
        </p:txBody>
      </p:sp>
      <p:cxnSp>
        <p:nvCxnSpPr>
          <p:cNvPr id="217" name="Straight Arrow Connector 216">
            <a:extLst>
              <a:ext uri="{FF2B5EF4-FFF2-40B4-BE49-F238E27FC236}">
                <a16:creationId xmlns:a16="http://schemas.microsoft.com/office/drawing/2014/main" id="{AB7D3B97-AA8F-3C29-C84D-DB3C0164E054}"/>
              </a:ext>
            </a:extLst>
          </p:cNvPr>
          <p:cNvCxnSpPr>
            <a:cxnSpLocks/>
          </p:cNvCxnSpPr>
          <p:nvPr/>
        </p:nvCxnSpPr>
        <p:spPr>
          <a:xfrm flipH="1">
            <a:off x="1114214" y="4593571"/>
            <a:ext cx="10013" cy="93226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9" name="Shape 113">
            <a:extLst>
              <a:ext uri="{FF2B5EF4-FFF2-40B4-BE49-F238E27FC236}">
                <a16:creationId xmlns:a16="http://schemas.microsoft.com/office/drawing/2014/main" id="{2B985973-190C-4C5B-EA5B-902EBB4722CF}"/>
              </a:ext>
            </a:extLst>
          </p:cNvPr>
          <p:cNvSpPr/>
          <p:nvPr/>
        </p:nvSpPr>
        <p:spPr>
          <a:xfrm flipV="1">
            <a:off x="5119635" y="4812224"/>
            <a:ext cx="5094212" cy="0"/>
          </a:xfrm>
          <a:prstGeom prst="line">
            <a:avLst/>
          </a:prstGeom>
          <a:noFill/>
          <a:ln w="15875">
            <a:solidFill>
              <a:srgbClr val="00B050"/>
            </a:solidFill>
            <a:prstDash val="dash"/>
          </a:ln>
        </p:spPr>
        <p:txBody>
          <a:bodyPr/>
          <a:lstStyle/>
          <a:p>
            <a:endParaRPr lang="en-US" dirty="0">
              <a:highlight>
                <a:srgbClr val="008000"/>
              </a:highlight>
            </a:endParaRP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27C87959-2232-AB70-E69B-DA44B1EFBC1F}"/>
              </a:ext>
            </a:extLst>
          </p:cNvPr>
          <p:cNvSpPr txBox="1"/>
          <p:nvPr/>
        </p:nvSpPr>
        <p:spPr>
          <a:xfrm>
            <a:off x="6262644" y="4786428"/>
            <a:ext cx="17885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0070C0"/>
                </a:solidFill>
              </a:rPr>
              <a:t>EIS Lookup</a:t>
            </a:r>
          </a:p>
        </p:txBody>
      </p:sp>
      <p:sp>
        <p:nvSpPr>
          <p:cNvPr id="222" name="Shape 114">
            <a:extLst>
              <a:ext uri="{FF2B5EF4-FFF2-40B4-BE49-F238E27FC236}">
                <a16:creationId xmlns:a16="http://schemas.microsoft.com/office/drawing/2014/main" id="{3664C854-7551-2F5F-1753-A996800EDFF8}"/>
              </a:ext>
            </a:extLst>
          </p:cNvPr>
          <p:cNvSpPr/>
          <p:nvPr/>
        </p:nvSpPr>
        <p:spPr>
          <a:xfrm>
            <a:off x="5131750" y="4848112"/>
            <a:ext cx="0" cy="720938"/>
          </a:xfrm>
          <a:prstGeom prst="line">
            <a:avLst/>
          </a:prstGeom>
          <a:noFill/>
          <a:ln w="15875">
            <a:solidFill>
              <a:srgbClr val="00B05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23" name="Shape 115">
            <a:extLst>
              <a:ext uri="{FF2B5EF4-FFF2-40B4-BE49-F238E27FC236}">
                <a16:creationId xmlns:a16="http://schemas.microsoft.com/office/drawing/2014/main" id="{6350821F-24A3-09F8-253E-B67C59819CD8}"/>
              </a:ext>
            </a:extLst>
          </p:cNvPr>
          <p:cNvSpPr/>
          <p:nvPr/>
        </p:nvSpPr>
        <p:spPr>
          <a:xfrm flipV="1">
            <a:off x="9794549" y="4593570"/>
            <a:ext cx="419299" cy="0"/>
          </a:xfrm>
          <a:prstGeom prst="line">
            <a:avLst/>
          </a:prstGeom>
          <a:noFill/>
          <a:ln w="15875">
            <a:solidFill>
              <a:srgbClr val="3949AB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4" name="Shape 53">
            <a:extLst>
              <a:ext uri="{FF2B5EF4-FFF2-40B4-BE49-F238E27FC236}">
                <a16:creationId xmlns:a16="http://schemas.microsoft.com/office/drawing/2014/main" id="{8213B1FB-2A03-428E-961C-5CE755A1A888}"/>
              </a:ext>
            </a:extLst>
          </p:cNvPr>
          <p:cNvSpPr/>
          <p:nvPr/>
        </p:nvSpPr>
        <p:spPr>
          <a:xfrm>
            <a:off x="8390824" y="4688780"/>
            <a:ext cx="1265530" cy="246888"/>
          </a:xfrm>
          <a:prstGeom prst="roundRect">
            <a:avLst>
              <a:gd name="adj" fmla="val 48148"/>
            </a:avLst>
          </a:prstGeom>
          <a:solidFill>
            <a:srgbClr val="FFFBF0"/>
          </a:solidFill>
          <a:ln w="9525">
            <a:solidFill>
              <a:srgbClr val="E0B84D"/>
            </a:solidFill>
            <a:prstDash val="solid"/>
          </a:ln>
          <a:effectLst>
            <a:outerShdw blurRad="63500" dist="17780" dir="5400000" algn="bl" rotWithShape="0">
              <a:srgbClr val="3A4A5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25" name="Image 10" descr="preencoded.png">
            <a:extLst>
              <a:ext uri="{FF2B5EF4-FFF2-40B4-BE49-F238E27FC236}">
                <a16:creationId xmlns:a16="http://schemas.microsoft.com/office/drawing/2014/main" id="{95D951B3-883A-C1A4-DBCB-178CAF4ED0A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77306" y="4726074"/>
            <a:ext cx="137160" cy="137160"/>
          </a:xfrm>
          <a:prstGeom prst="rect">
            <a:avLst/>
          </a:prstGeom>
        </p:spPr>
      </p:pic>
      <p:sp>
        <p:nvSpPr>
          <p:cNvPr id="226" name="Text 54">
            <a:extLst>
              <a:ext uri="{FF2B5EF4-FFF2-40B4-BE49-F238E27FC236}">
                <a16:creationId xmlns:a16="http://schemas.microsoft.com/office/drawing/2014/main" id="{F954767F-FC32-DD7B-F7A8-DD1A93782B08}"/>
              </a:ext>
            </a:extLst>
          </p:cNvPr>
          <p:cNvSpPr/>
          <p:nvPr/>
        </p:nvSpPr>
        <p:spPr>
          <a:xfrm>
            <a:off x="8632754" y="4671210"/>
            <a:ext cx="99121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2.0 · lookup</a:t>
            </a:r>
            <a:endParaRPr lang="en-US" sz="720" dirty="0"/>
          </a:p>
        </p:txBody>
      </p:sp>
      <p:sp>
        <p:nvSpPr>
          <p:cNvPr id="231" name="Shape 114">
            <a:extLst>
              <a:ext uri="{FF2B5EF4-FFF2-40B4-BE49-F238E27FC236}">
                <a16:creationId xmlns:a16="http://schemas.microsoft.com/office/drawing/2014/main" id="{62EE7AB7-6C4F-F289-865D-9F5E092BDC44}"/>
              </a:ext>
            </a:extLst>
          </p:cNvPr>
          <p:cNvSpPr/>
          <p:nvPr/>
        </p:nvSpPr>
        <p:spPr>
          <a:xfrm>
            <a:off x="3557016" y="4034325"/>
            <a:ext cx="0" cy="1534725"/>
          </a:xfrm>
          <a:prstGeom prst="line">
            <a:avLst/>
          </a:prstGeom>
          <a:noFill/>
          <a:ln w="15875">
            <a:solidFill>
              <a:srgbClr val="00B05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CC202BE5-579E-1DA6-E5AE-A45E59A3B38F}"/>
              </a:ext>
            </a:extLst>
          </p:cNvPr>
          <p:cNvSpPr txBox="1"/>
          <p:nvPr/>
        </p:nvSpPr>
        <p:spPr>
          <a:xfrm>
            <a:off x="3387438" y="-4798"/>
            <a:ext cx="40822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MassMutual Indexing Solution with </a:t>
            </a:r>
            <a:r>
              <a:rPr lang="en-US" b="1" dirty="0">
                <a:solidFill>
                  <a:schemeClr val="accent4">
                    <a:lumMod val="50000"/>
                  </a:schemeClr>
                </a:solidFill>
              </a:rPr>
              <a:t>AWS</a:t>
            </a:r>
            <a:endParaRPr lang="en-US" dirty="0">
              <a:solidFill>
                <a:schemeClr val="accent4">
                  <a:lumMod val="50000"/>
                </a:schemeClr>
              </a:solidFill>
            </a:endParaRPr>
          </a:p>
        </p:txBody>
      </p:sp>
      <p:pic>
        <p:nvPicPr>
          <p:cNvPr id="233" name="Image 0" descr="preencoded.png">
            <a:extLst>
              <a:ext uri="{FF2B5EF4-FFF2-40B4-BE49-F238E27FC236}">
                <a16:creationId xmlns:a16="http://schemas.microsoft.com/office/drawing/2014/main" id="{D7538484-333E-89BE-DE53-75ADC1866B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94" y="5253582"/>
            <a:ext cx="164592" cy="164592"/>
          </a:xfrm>
          <a:prstGeom prst="rect">
            <a:avLst/>
          </a:prstGeom>
        </p:spPr>
      </p:pic>
      <p:sp>
        <p:nvSpPr>
          <p:cNvPr id="234" name="TextBox 233">
            <a:extLst>
              <a:ext uri="{FF2B5EF4-FFF2-40B4-BE49-F238E27FC236}">
                <a16:creationId xmlns:a16="http://schemas.microsoft.com/office/drawing/2014/main" id="{001BDCD1-E6FD-A6D8-3C49-E51FC639CEA1}"/>
              </a:ext>
            </a:extLst>
          </p:cNvPr>
          <p:cNvSpPr txBox="1"/>
          <p:nvPr/>
        </p:nvSpPr>
        <p:spPr>
          <a:xfrm>
            <a:off x="760522" y="5236294"/>
            <a:ext cx="302037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>
                <a:solidFill>
                  <a:schemeClr val="accent4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AWS STEP FUNCTION  (STANDARD)    —    ORCHESTRATION</a:t>
            </a:r>
          </a:p>
        </p:txBody>
      </p:sp>
      <p:sp>
        <p:nvSpPr>
          <p:cNvPr id="238" name="Shape 15">
            <a:extLst>
              <a:ext uri="{FF2B5EF4-FFF2-40B4-BE49-F238E27FC236}">
                <a16:creationId xmlns:a16="http://schemas.microsoft.com/office/drawing/2014/main" id="{DFA17D42-7F32-2AD6-790A-A3E4286CF405}"/>
              </a:ext>
            </a:extLst>
          </p:cNvPr>
          <p:cNvSpPr/>
          <p:nvPr/>
        </p:nvSpPr>
        <p:spPr>
          <a:xfrm>
            <a:off x="281635" y="3908332"/>
            <a:ext cx="512064" cy="512064"/>
          </a:xfrm>
          <a:prstGeom prst="roundRect">
            <a:avLst>
              <a:gd name="adj" fmla="val 8929"/>
            </a:avLst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9" name="Image 2" descr="preencoded.png">
            <a:extLst>
              <a:ext uri="{FF2B5EF4-FFF2-40B4-BE49-F238E27FC236}">
                <a16:creationId xmlns:a16="http://schemas.microsoft.com/office/drawing/2014/main" id="{25A75134-05C9-7D29-19F8-386DD5C47C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079" y="3961305"/>
            <a:ext cx="327721" cy="327721"/>
          </a:xfrm>
          <a:prstGeom prst="rect">
            <a:avLst/>
          </a:prstGeom>
        </p:spPr>
      </p:pic>
      <p:sp>
        <p:nvSpPr>
          <p:cNvPr id="242" name="Rectangle 241">
            <a:extLst>
              <a:ext uri="{FF2B5EF4-FFF2-40B4-BE49-F238E27FC236}">
                <a16:creationId xmlns:a16="http://schemas.microsoft.com/office/drawing/2014/main" id="{436B8AD4-9709-8600-F510-4985FA9304CE}"/>
              </a:ext>
            </a:extLst>
          </p:cNvPr>
          <p:cNvSpPr/>
          <p:nvPr/>
        </p:nvSpPr>
        <p:spPr>
          <a:xfrm>
            <a:off x="5279278" y="3600735"/>
            <a:ext cx="1523480" cy="38404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/>
              <a:t>Human In The Loop</a:t>
            </a:r>
            <a:br>
              <a:rPr lang="en-US" sz="1050" dirty="0"/>
            </a:br>
            <a:r>
              <a:rPr lang="en-US" sz="1050" dirty="0"/>
              <a:t>(If Confidence Score&lt;90)</a:t>
            </a:r>
          </a:p>
        </p:txBody>
      </p:sp>
      <p:cxnSp>
        <p:nvCxnSpPr>
          <p:cNvPr id="249" name="Straight Arrow Connector 248">
            <a:extLst>
              <a:ext uri="{FF2B5EF4-FFF2-40B4-BE49-F238E27FC236}">
                <a16:creationId xmlns:a16="http://schemas.microsoft.com/office/drawing/2014/main" id="{3A3E2005-6E8D-E5A2-A126-F2E25CCB2FCA}"/>
              </a:ext>
            </a:extLst>
          </p:cNvPr>
          <p:cNvCxnSpPr>
            <a:cxnSpLocks/>
          </p:cNvCxnSpPr>
          <p:nvPr/>
        </p:nvCxnSpPr>
        <p:spPr>
          <a:xfrm flipH="1">
            <a:off x="6774699" y="3834619"/>
            <a:ext cx="23493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51" name="Straight Connector 250">
            <a:extLst>
              <a:ext uri="{FF2B5EF4-FFF2-40B4-BE49-F238E27FC236}">
                <a16:creationId xmlns:a16="http://schemas.microsoft.com/office/drawing/2014/main" id="{701F1258-784C-0DA1-7C44-77A5A2C3F9D3}"/>
              </a:ext>
            </a:extLst>
          </p:cNvPr>
          <p:cNvCxnSpPr>
            <a:stCxn id="87" idx="1"/>
          </p:cNvCxnSpPr>
          <p:nvPr/>
        </p:nvCxnSpPr>
        <p:spPr>
          <a:xfrm>
            <a:off x="7007871" y="2825036"/>
            <a:ext cx="0" cy="1009583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53" name="Straight Connector 252">
            <a:extLst>
              <a:ext uri="{FF2B5EF4-FFF2-40B4-BE49-F238E27FC236}">
                <a16:creationId xmlns:a16="http://schemas.microsoft.com/office/drawing/2014/main" id="{A6D32DCC-5595-4044-EF80-C0F10C34A08F}"/>
              </a:ext>
            </a:extLst>
          </p:cNvPr>
          <p:cNvCxnSpPr>
            <a:cxnSpLocks/>
          </p:cNvCxnSpPr>
          <p:nvPr/>
        </p:nvCxnSpPr>
        <p:spPr>
          <a:xfrm>
            <a:off x="6815847" y="3674514"/>
            <a:ext cx="4177397" cy="0"/>
          </a:xfrm>
          <a:prstGeom prst="line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1" name="Straight Arrow Connector 260">
            <a:extLst>
              <a:ext uri="{FF2B5EF4-FFF2-40B4-BE49-F238E27FC236}">
                <a16:creationId xmlns:a16="http://schemas.microsoft.com/office/drawing/2014/main" id="{B96A01E7-5E3D-8A35-4CC0-D557B7522E76}"/>
              </a:ext>
            </a:extLst>
          </p:cNvPr>
          <p:cNvCxnSpPr>
            <a:cxnSpLocks/>
          </p:cNvCxnSpPr>
          <p:nvPr/>
        </p:nvCxnSpPr>
        <p:spPr>
          <a:xfrm flipH="1" flipV="1">
            <a:off x="10993244" y="3139299"/>
            <a:ext cx="15373" cy="535215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FE6476F-B521-C69D-0BBC-DEE7DA9F152F}"/>
              </a:ext>
            </a:extLst>
          </p:cNvPr>
          <p:cNvCxnSpPr>
            <a:cxnSpLocks/>
          </p:cNvCxnSpPr>
          <p:nvPr/>
        </p:nvCxnSpPr>
        <p:spPr>
          <a:xfrm>
            <a:off x="6056047" y="3253890"/>
            <a:ext cx="0" cy="1353312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C638F66-F94B-0E67-267A-F22E979A28F5}"/>
              </a:ext>
            </a:extLst>
          </p:cNvPr>
          <p:cNvCxnSpPr>
            <a:cxnSpLocks/>
          </p:cNvCxnSpPr>
          <p:nvPr/>
        </p:nvCxnSpPr>
        <p:spPr>
          <a:xfrm>
            <a:off x="6024043" y="4593570"/>
            <a:ext cx="4085772" cy="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1" name="Shape 115">
            <a:extLst>
              <a:ext uri="{FF2B5EF4-FFF2-40B4-BE49-F238E27FC236}">
                <a16:creationId xmlns:a16="http://schemas.microsoft.com/office/drawing/2014/main" id="{5A7846B3-11AE-E96E-C92F-353D9A513A89}"/>
              </a:ext>
            </a:extLst>
          </p:cNvPr>
          <p:cNvSpPr/>
          <p:nvPr/>
        </p:nvSpPr>
        <p:spPr>
          <a:xfrm flipV="1">
            <a:off x="9894873" y="4821158"/>
            <a:ext cx="291901" cy="8379"/>
          </a:xfrm>
          <a:prstGeom prst="line">
            <a:avLst/>
          </a:prstGeom>
          <a:noFill/>
          <a:ln w="15875">
            <a:solidFill>
              <a:srgbClr val="3949AB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6EA66FD-1DD6-A021-2825-CBF96E6AEB3A}"/>
              </a:ext>
            </a:extLst>
          </p:cNvPr>
          <p:cNvSpPr txBox="1"/>
          <p:nvPr/>
        </p:nvSpPr>
        <p:spPr>
          <a:xfrm>
            <a:off x="7663586" y="4342025"/>
            <a:ext cx="7489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0070C0"/>
                </a:solidFill>
              </a:rPr>
              <a:t>EIS Lookup</a:t>
            </a:r>
          </a:p>
          <a:p>
            <a:endParaRPr lang="en-US" sz="1000" dirty="0"/>
          </a:p>
        </p:txBody>
      </p:sp>
      <p:sp>
        <p:nvSpPr>
          <p:cNvPr id="3" name="Shape 114">
            <a:extLst>
              <a:ext uri="{FF2B5EF4-FFF2-40B4-BE49-F238E27FC236}">
                <a16:creationId xmlns:a16="http://schemas.microsoft.com/office/drawing/2014/main" id="{2C15F9B1-C484-F5A7-4F07-60837665624F}"/>
              </a:ext>
            </a:extLst>
          </p:cNvPr>
          <p:cNvSpPr/>
          <p:nvPr/>
        </p:nvSpPr>
        <p:spPr>
          <a:xfrm>
            <a:off x="7059215" y="5048038"/>
            <a:ext cx="0" cy="557588"/>
          </a:xfrm>
          <a:prstGeom prst="line">
            <a:avLst/>
          </a:prstGeom>
          <a:noFill/>
          <a:ln w="15875">
            <a:solidFill>
              <a:srgbClr val="00B05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113">
            <a:extLst>
              <a:ext uri="{FF2B5EF4-FFF2-40B4-BE49-F238E27FC236}">
                <a16:creationId xmlns:a16="http://schemas.microsoft.com/office/drawing/2014/main" id="{F5DF50DE-319A-5234-5129-5D0B28FCCBAC}"/>
              </a:ext>
            </a:extLst>
          </p:cNvPr>
          <p:cNvSpPr/>
          <p:nvPr/>
        </p:nvSpPr>
        <p:spPr>
          <a:xfrm flipV="1">
            <a:off x="7059215" y="5048038"/>
            <a:ext cx="2662692" cy="0"/>
          </a:xfrm>
          <a:prstGeom prst="line">
            <a:avLst/>
          </a:prstGeom>
          <a:noFill/>
          <a:ln w="15875">
            <a:solidFill>
              <a:srgbClr val="00B050"/>
            </a:solidFill>
            <a:prstDash val="dash"/>
          </a:ln>
        </p:spPr>
        <p:txBody>
          <a:bodyPr/>
          <a:lstStyle/>
          <a:p>
            <a:endParaRPr lang="en-US" dirty="0">
              <a:highlight>
                <a:srgbClr val="008000"/>
              </a:highlight>
            </a:endParaRPr>
          </a:p>
        </p:txBody>
      </p:sp>
      <p:sp>
        <p:nvSpPr>
          <p:cNvPr id="14" name="Shape 114">
            <a:extLst>
              <a:ext uri="{FF2B5EF4-FFF2-40B4-BE49-F238E27FC236}">
                <a16:creationId xmlns:a16="http://schemas.microsoft.com/office/drawing/2014/main" id="{121DCD7F-1240-840B-F4FA-0CB1FB493642}"/>
              </a:ext>
            </a:extLst>
          </p:cNvPr>
          <p:cNvSpPr/>
          <p:nvPr/>
        </p:nvSpPr>
        <p:spPr>
          <a:xfrm>
            <a:off x="9721907" y="4012842"/>
            <a:ext cx="0" cy="1051448"/>
          </a:xfrm>
          <a:prstGeom prst="line">
            <a:avLst/>
          </a:prstGeom>
          <a:noFill/>
          <a:ln w="15875">
            <a:solidFill>
              <a:srgbClr val="00B05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26">
            <a:extLst>
              <a:ext uri="{FF2B5EF4-FFF2-40B4-BE49-F238E27FC236}">
                <a16:creationId xmlns:a16="http://schemas.microsoft.com/office/drawing/2014/main" id="{F9B3463C-CF75-6425-3148-1694CEB03830}"/>
              </a:ext>
            </a:extLst>
          </p:cNvPr>
          <p:cNvSpPr/>
          <p:nvPr/>
        </p:nvSpPr>
        <p:spPr>
          <a:xfrm>
            <a:off x="2392389" y="5555334"/>
            <a:ext cx="155448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5875">
            <a:solidFill>
              <a:srgbClr val="283593"/>
            </a:solidFill>
            <a:prstDash val="solid"/>
          </a:ln>
          <a:effectLst>
            <a:outerShdw blurRad="63500" dist="17780" dir="5400000" algn="bl" rotWithShape="0">
              <a:srgbClr val="3A4A5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0" name="Shape 27">
            <a:extLst>
              <a:ext uri="{FF2B5EF4-FFF2-40B4-BE49-F238E27FC236}">
                <a16:creationId xmlns:a16="http://schemas.microsoft.com/office/drawing/2014/main" id="{4731361D-2DC9-627E-1CBC-DCF26F65D475}"/>
              </a:ext>
            </a:extLst>
          </p:cNvPr>
          <p:cNvSpPr/>
          <p:nvPr/>
        </p:nvSpPr>
        <p:spPr>
          <a:xfrm>
            <a:off x="2400478" y="5541618"/>
            <a:ext cx="82296" cy="859536"/>
          </a:xfrm>
          <a:prstGeom prst="rect">
            <a:avLst/>
          </a:prstGeom>
          <a:solidFill>
            <a:srgbClr val="2835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" name="Shape 28">
            <a:extLst>
              <a:ext uri="{FF2B5EF4-FFF2-40B4-BE49-F238E27FC236}">
                <a16:creationId xmlns:a16="http://schemas.microsoft.com/office/drawing/2014/main" id="{1CAF4ECA-7FF2-D656-088C-B193F869F5E1}"/>
              </a:ext>
            </a:extLst>
          </p:cNvPr>
          <p:cNvSpPr/>
          <p:nvPr/>
        </p:nvSpPr>
        <p:spPr>
          <a:xfrm>
            <a:off x="2373046" y="5404458"/>
            <a:ext cx="329184" cy="329184"/>
          </a:xfrm>
          <a:prstGeom prst="ellipse">
            <a:avLst/>
          </a:prstGeom>
          <a:solidFill>
            <a:srgbClr val="283593"/>
          </a:solidFill>
          <a:ln w="19050">
            <a:solidFill>
              <a:srgbClr val="FFFFFF"/>
            </a:solidFill>
            <a:prstDash val="solid"/>
          </a:ln>
          <a:effectLst>
            <a:outerShdw blurRad="63500" dist="17780" dir="5400000" algn="bl" rotWithShape="0">
              <a:srgbClr val="3A4A5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8" name="Text 29">
            <a:extLst>
              <a:ext uri="{FF2B5EF4-FFF2-40B4-BE49-F238E27FC236}">
                <a16:creationId xmlns:a16="http://schemas.microsoft.com/office/drawing/2014/main" id="{CACE857F-7D6F-DF6B-87FF-4C1325500595}"/>
              </a:ext>
            </a:extLst>
          </p:cNvPr>
          <p:cNvSpPr/>
          <p:nvPr/>
        </p:nvSpPr>
        <p:spPr>
          <a:xfrm>
            <a:off x="2373046" y="540445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4" name="Shape 30">
            <a:extLst>
              <a:ext uri="{FF2B5EF4-FFF2-40B4-BE49-F238E27FC236}">
                <a16:creationId xmlns:a16="http://schemas.microsoft.com/office/drawing/2014/main" id="{69334B98-8DA5-2F17-58FD-21AA46933097}"/>
              </a:ext>
            </a:extLst>
          </p:cNvPr>
          <p:cNvSpPr/>
          <p:nvPr/>
        </p:nvSpPr>
        <p:spPr>
          <a:xfrm>
            <a:off x="3589198" y="5642202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2835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2" name="Text 31">
            <a:extLst>
              <a:ext uri="{FF2B5EF4-FFF2-40B4-BE49-F238E27FC236}">
                <a16:creationId xmlns:a16="http://schemas.microsoft.com/office/drawing/2014/main" id="{4E5C2030-32BA-B26F-7074-698C7BAF2E95}"/>
              </a:ext>
            </a:extLst>
          </p:cNvPr>
          <p:cNvSpPr/>
          <p:nvPr/>
        </p:nvSpPr>
        <p:spPr>
          <a:xfrm>
            <a:off x="2565069" y="5746930"/>
            <a:ext cx="1141803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2000"/>
              </a:lnSpc>
            </a:pPr>
            <a:r>
              <a:rPr lang="en-US" sz="110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&amp; Add Doc</a:t>
            </a:r>
            <a:endParaRPr lang="en-US" sz="1100" dirty="0"/>
          </a:p>
          <a:p>
            <a:pPr>
              <a:lnSpc>
                <a:spcPct val="92000"/>
              </a:lnSpc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Email + Doc to Cloud object storage</a:t>
            </a:r>
          </a:p>
          <a:p>
            <a:pPr>
              <a:lnSpc>
                <a:spcPct val="92000"/>
              </a:lnSpc>
            </a:pPr>
            <a:r>
              <a:rPr lang="en-US" sz="1000" b="1" dirty="0">
                <a:solidFill>
                  <a:schemeClr val="accent4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S3 ENDPOINT</a:t>
            </a:r>
          </a:p>
        </p:txBody>
      </p:sp>
      <p:pic>
        <p:nvPicPr>
          <p:cNvPr id="108" name="Image 8" descr="preencoded.png">
            <a:extLst>
              <a:ext uri="{FF2B5EF4-FFF2-40B4-BE49-F238E27FC236}">
                <a16:creationId xmlns:a16="http://schemas.microsoft.com/office/drawing/2014/main" id="{6863890A-603C-2F13-096D-B45E79308D5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42879" y="5674293"/>
            <a:ext cx="192024" cy="192024"/>
          </a:xfrm>
          <a:prstGeom prst="rect">
            <a:avLst/>
          </a:prstGeom>
        </p:spPr>
      </p:pic>
      <p:sp>
        <p:nvSpPr>
          <p:cNvPr id="139" name="TextBox 138">
            <a:extLst>
              <a:ext uri="{FF2B5EF4-FFF2-40B4-BE49-F238E27FC236}">
                <a16:creationId xmlns:a16="http://schemas.microsoft.com/office/drawing/2014/main" id="{DA4668C9-BC2B-AF5C-22FC-EA232E8BF9E2}"/>
              </a:ext>
            </a:extLst>
          </p:cNvPr>
          <p:cNvSpPr txBox="1"/>
          <p:nvPr/>
        </p:nvSpPr>
        <p:spPr>
          <a:xfrm>
            <a:off x="5008438" y="6577172"/>
            <a:ext cx="2239275" cy="2769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AWS </a:t>
            </a:r>
            <a:r>
              <a:rPr lang="en-US" sz="1200" b="1" dirty="0" err="1">
                <a:solidFill>
                  <a:schemeClr val="accent4">
                    <a:lumMod val="50000"/>
                  </a:schemeClr>
                </a:solidFill>
              </a:rPr>
              <a:t>Cloudwatch</a:t>
            </a:r>
            <a:r>
              <a:rPr lang="en-US" sz="1200" b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for monitoring </a:t>
            </a:r>
            <a:endParaRPr lang="en-US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85F7574A-7DAB-6324-8A12-3076F88B6F4F}"/>
              </a:ext>
            </a:extLst>
          </p:cNvPr>
          <p:cNvSpPr txBox="1"/>
          <p:nvPr/>
        </p:nvSpPr>
        <p:spPr>
          <a:xfrm>
            <a:off x="2654582" y="6577172"/>
            <a:ext cx="2239275" cy="2769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AWS </a:t>
            </a:r>
            <a:r>
              <a:rPr lang="en-US" sz="1200" b="1" dirty="0" err="1">
                <a:solidFill>
                  <a:schemeClr val="accent4">
                    <a:lumMod val="50000"/>
                  </a:schemeClr>
                </a:solidFill>
              </a:rPr>
              <a:t>Cloudtrail</a:t>
            </a:r>
            <a:r>
              <a:rPr lang="en-US" sz="1200" b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captures auditing </a:t>
            </a:r>
            <a:endParaRPr lang="en-US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A70BAB2B-7FDA-7D2B-3768-89B79B2DD645}"/>
              </a:ext>
            </a:extLst>
          </p:cNvPr>
          <p:cNvSpPr txBox="1"/>
          <p:nvPr/>
        </p:nvSpPr>
        <p:spPr>
          <a:xfrm>
            <a:off x="337465" y="6577172"/>
            <a:ext cx="2239275" cy="2769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AWS </a:t>
            </a:r>
            <a:r>
              <a:rPr lang="en-US" sz="1200" b="1" dirty="0">
                <a:solidFill>
                  <a:schemeClr val="accent4">
                    <a:lumMod val="50000"/>
                  </a:schemeClr>
                </a:solidFill>
              </a:rPr>
              <a:t>SQS</a:t>
            </a:r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/</a:t>
            </a:r>
            <a:r>
              <a:rPr lang="en-US" sz="1200" b="1" dirty="0">
                <a:solidFill>
                  <a:schemeClr val="accent4">
                    <a:lumMod val="50000"/>
                  </a:schemeClr>
                </a:solidFill>
              </a:rPr>
              <a:t>DLQ </a:t>
            </a:r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to manage queue</a:t>
            </a:r>
            <a:endParaRPr lang="en-US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01309C27-4C36-51A4-6F02-B1220BFDDAEB}"/>
              </a:ext>
            </a:extLst>
          </p:cNvPr>
          <p:cNvSpPr txBox="1"/>
          <p:nvPr/>
        </p:nvSpPr>
        <p:spPr>
          <a:xfrm>
            <a:off x="7351273" y="6577172"/>
            <a:ext cx="2239275" cy="2769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AWS </a:t>
            </a:r>
            <a:r>
              <a:rPr lang="en-US" sz="1200" b="1" dirty="0">
                <a:solidFill>
                  <a:schemeClr val="accent4">
                    <a:lumMod val="50000"/>
                  </a:schemeClr>
                </a:solidFill>
              </a:rPr>
              <a:t>IAM </a:t>
            </a:r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based access/ security </a:t>
            </a:r>
            <a:endParaRPr lang="en-US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042B3FA0-218C-A108-5B88-A192560E0DD6}"/>
              </a:ext>
            </a:extLst>
          </p:cNvPr>
          <p:cNvSpPr txBox="1"/>
          <p:nvPr/>
        </p:nvSpPr>
        <p:spPr>
          <a:xfrm>
            <a:off x="9721907" y="6577172"/>
            <a:ext cx="2239275" cy="2769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AWS </a:t>
            </a:r>
            <a:r>
              <a:rPr lang="en-US" sz="1200" b="1" dirty="0">
                <a:solidFill>
                  <a:schemeClr val="accent4">
                    <a:lumMod val="50000"/>
                  </a:schemeClr>
                </a:solidFill>
              </a:rPr>
              <a:t>KMS </a:t>
            </a:r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driven</a:t>
            </a:r>
            <a:r>
              <a:rPr lang="en-US" sz="1200" b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key encryption </a:t>
            </a:r>
            <a:endParaRPr lang="en-US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156" name="Shape 30">
            <a:extLst>
              <a:ext uri="{FF2B5EF4-FFF2-40B4-BE49-F238E27FC236}">
                <a16:creationId xmlns:a16="http://schemas.microsoft.com/office/drawing/2014/main" id="{C6E71D16-3141-7829-F127-7242E625C680}"/>
              </a:ext>
            </a:extLst>
          </p:cNvPr>
          <p:cNvSpPr/>
          <p:nvPr/>
        </p:nvSpPr>
        <p:spPr>
          <a:xfrm>
            <a:off x="1506005" y="5613734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2835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4" name="Image 6" descr="preencoded.png">
            <a:extLst>
              <a:ext uri="{FF2B5EF4-FFF2-40B4-BE49-F238E27FC236}">
                <a16:creationId xmlns:a16="http://schemas.microsoft.com/office/drawing/2014/main" id="{88C5F654-161B-0813-18C1-D7AC4439C6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7957" y="5656108"/>
            <a:ext cx="192024" cy="192024"/>
          </a:xfrm>
          <a:prstGeom prst="rect">
            <a:avLst/>
          </a:prstGeom>
        </p:spPr>
      </p:pic>
      <p:sp>
        <p:nvSpPr>
          <p:cNvPr id="158" name="TextBox 157">
            <a:extLst>
              <a:ext uri="{FF2B5EF4-FFF2-40B4-BE49-F238E27FC236}">
                <a16:creationId xmlns:a16="http://schemas.microsoft.com/office/drawing/2014/main" id="{B1017D29-905D-CBEA-8BAD-5BE5F373F83A}"/>
              </a:ext>
            </a:extLst>
          </p:cNvPr>
          <p:cNvSpPr txBox="1"/>
          <p:nvPr/>
        </p:nvSpPr>
        <p:spPr>
          <a:xfrm>
            <a:off x="4866661" y="4040115"/>
            <a:ext cx="1928820" cy="4616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AWS hosted custom </a:t>
            </a:r>
            <a:r>
              <a:rPr lang="en-US" sz="1200" b="1" dirty="0">
                <a:solidFill>
                  <a:schemeClr val="accent4">
                    <a:lumMod val="50000"/>
                  </a:schemeClr>
                </a:solidFill>
              </a:rPr>
              <a:t>React</a:t>
            </a:r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 pages for HITL</a:t>
            </a:r>
            <a:endParaRPr lang="en-US" dirty="0">
              <a:solidFill>
                <a:schemeClr val="accent4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3950</TotalTime>
  <Words>319</Words>
  <Application>Microsoft Office PowerPoint</Application>
  <PresentationFormat>Widescreen</PresentationFormat>
  <Paragraphs>86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Ghosh, Debasish</cp:lastModifiedBy>
  <cp:revision>18</cp:revision>
  <dcterms:created xsi:type="dcterms:W3CDTF">2026-07-09T10:38:31Z</dcterms:created>
  <dcterms:modified xsi:type="dcterms:W3CDTF">2026-08-17T12:38:13Z</dcterms:modified>
</cp:coreProperties>
</file>