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6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31415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914400"/>
            <a:ext cx="1463040" cy="1463040"/>
          </a:xfrm>
          <a:prstGeom prst="rect">
            <a:avLst/>
          </a:prstGeom>
          <a:solidFill>
            <a:srgbClr val="FF9900">
              <a:alpha val="88000"/>
            </a:srgbClr>
          </a:solidFill>
          <a:ln/>
        </p:spPr>
      </p:sp>
      <p:pic>
        <p:nvPicPr>
          <p:cNvPr id="4" name="Image 0" descr="/home/claude/icons/a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23444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32720" y="4206240"/>
            <a:ext cx="73152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148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MASSMUTUAL INDEXING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AWS ARCHITECTURE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System Architecture — Revised Flow Diagram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native AWS services from the prior technology stack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INTERNAL REVIEW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LOW-LEVEL SYSTEM ARCHITECTURE — AWS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MassMutual Indexing Solution — end-to-end data &amp; control flow across AWS-native services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EXISTING SYSTEMS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18638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6" name="Image 0" descr="/home/claude/icons/envelop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78638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768096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7472" y="1005840"/>
            <a:ext cx="1717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Appeal, CAP, PA, Producer</a:t>
            </a:r>
            <a:endParaRPr lang="en-US" sz="630" dirty="0"/>
          </a:p>
        </p:txBody>
      </p:sp>
      <p:sp>
        <p:nvSpPr>
          <p:cNvPr id="9" name="Shape 6"/>
          <p:cNvSpPr/>
          <p:nvPr/>
        </p:nvSpPr>
        <p:spPr>
          <a:xfrm>
            <a:off x="347472" y="1243584"/>
            <a:ext cx="1717548" cy="137160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243584"/>
            <a:ext cx="17175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560" dirty="0"/>
          </a:p>
        </p:txBody>
      </p:sp>
      <p:sp>
        <p:nvSpPr>
          <p:cNvPr id="11" name="Shape 8"/>
          <p:cNvSpPr/>
          <p:nvPr/>
        </p:nvSpPr>
        <p:spPr>
          <a:xfrm>
            <a:off x="2229612" y="713232"/>
            <a:ext cx="18638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12" name="Image 1" descr="/home/claude/icons/clou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764" y="78638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22220" y="768096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 Storage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302764" y="1005840"/>
            <a:ext cx="1717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630" dirty="0"/>
          </a:p>
        </p:txBody>
      </p:sp>
      <p:sp>
        <p:nvSpPr>
          <p:cNvPr id="15" name="Shape 11"/>
          <p:cNvSpPr/>
          <p:nvPr/>
        </p:nvSpPr>
        <p:spPr>
          <a:xfrm>
            <a:off x="2302764" y="1243584"/>
            <a:ext cx="1717548" cy="137160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302764" y="1243584"/>
            <a:ext cx="17175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560" dirty="0"/>
          </a:p>
        </p:txBody>
      </p:sp>
      <p:sp>
        <p:nvSpPr>
          <p:cNvPr id="17" name="Shape 13"/>
          <p:cNvSpPr/>
          <p:nvPr/>
        </p:nvSpPr>
        <p:spPr>
          <a:xfrm>
            <a:off x="4184904" y="713232"/>
            <a:ext cx="18638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18" name="Image 2" descr="/home/claude/icons/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056" y="786384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77512" y="768096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258056" y="1005840"/>
            <a:ext cx="1717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 Processing · AWS Textract</a:t>
            </a:r>
            <a:endParaRPr lang="en-US" sz="630" dirty="0"/>
          </a:p>
        </p:txBody>
      </p:sp>
      <p:sp>
        <p:nvSpPr>
          <p:cNvPr id="21" name="Shape 16"/>
          <p:cNvSpPr/>
          <p:nvPr/>
        </p:nvSpPr>
        <p:spPr>
          <a:xfrm>
            <a:off x="4258056" y="1243584"/>
            <a:ext cx="1717548" cy="137160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58056" y="1243584"/>
            <a:ext cx="17175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560" dirty="0"/>
          </a:p>
        </p:txBody>
      </p:sp>
      <p:sp>
        <p:nvSpPr>
          <p:cNvPr id="23" name="Shape 18"/>
          <p:cNvSpPr/>
          <p:nvPr/>
        </p:nvSpPr>
        <p:spPr>
          <a:xfrm>
            <a:off x="6140196" y="713232"/>
            <a:ext cx="18638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24" name="Image 3" descr="/home/claude/icons/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348" y="78638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32804" y="768096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[MI]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213348" y="1005840"/>
            <a:ext cx="1717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SIE-encrypted · AWS RDS PostgreSQL</a:t>
            </a:r>
            <a:endParaRPr lang="en-US" sz="630" dirty="0"/>
          </a:p>
        </p:txBody>
      </p:sp>
      <p:sp>
        <p:nvSpPr>
          <p:cNvPr id="27" name="Shape 21"/>
          <p:cNvSpPr/>
          <p:nvPr/>
        </p:nvSpPr>
        <p:spPr>
          <a:xfrm>
            <a:off x="6213348" y="1243584"/>
            <a:ext cx="1717548" cy="137160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213348" y="1243584"/>
            <a:ext cx="17175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560" dirty="0"/>
          </a:p>
        </p:txBody>
      </p:sp>
      <p:sp>
        <p:nvSpPr>
          <p:cNvPr id="29" name="Shape 23"/>
          <p:cNvSpPr/>
          <p:nvPr/>
        </p:nvSpPr>
        <p:spPr>
          <a:xfrm>
            <a:off x="8095488" y="713232"/>
            <a:ext cx="18638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30" name="Image 4" descr="/home/claude/icons/task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786384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388096" y="768096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OpsHive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168640" y="1005840"/>
            <a:ext cx="1717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Research / Rework</a:t>
            </a:r>
            <a:endParaRPr lang="en-US" sz="630" dirty="0"/>
          </a:p>
        </p:txBody>
      </p:sp>
      <p:sp>
        <p:nvSpPr>
          <p:cNvPr id="33" name="Shape 26"/>
          <p:cNvSpPr/>
          <p:nvPr/>
        </p:nvSpPr>
        <p:spPr>
          <a:xfrm>
            <a:off x="8168640" y="1243584"/>
            <a:ext cx="1717548" cy="137160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168640" y="1243584"/>
            <a:ext cx="17175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560" dirty="0"/>
          </a:p>
        </p:txBody>
      </p:sp>
      <p:sp>
        <p:nvSpPr>
          <p:cNvPr id="35" name="Shape 28"/>
          <p:cNvSpPr/>
          <p:nvPr/>
        </p:nvSpPr>
        <p:spPr>
          <a:xfrm>
            <a:off x="10050780" y="713232"/>
            <a:ext cx="18638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36" name="Image 5" descr="/home/claude/icons/user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932" y="786384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343388" y="768096"/>
            <a:ext cx="1498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Teams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0123932" y="1005840"/>
            <a:ext cx="1717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Claims, Servicing, Contact</a:t>
            </a:r>
            <a:endParaRPr lang="en-US" sz="630" dirty="0"/>
          </a:p>
        </p:txBody>
      </p:sp>
      <p:sp>
        <p:nvSpPr>
          <p:cNvPr id="39" name="Shape 31"/>
          <p:cNvSpPr/>
          <p:nvPr/>
        </p:nvSpPr>
        <p:spPr>
          <a:xfrm>
            <a:off x="9941052" y="1069848"/>
            <a:ext cx="128016" cy="0"/>
          </a:xfrm>
          <a:prstGeom prst="line">
            <a:avLst/>
          </a:prstGeom>
          <a:noFill/>
          <a:ln w="9525">
            <a:solidFill>
              <a:srgbClr val="5B6B7D"/>
            </a:solidFill>
            <a:prstDash val="dash"/>
          </a:ln>
        </p:spPr>
      </p:sp>
      <p:sp>
        <p:nvSpPr>
          <p:cNvPr id="40" name="Shape 32"/>
          <p:cNvSpPr/>
          <p:nvPr/>
        </p:nvSpPr>
        <p:spPr>
          <a:xfrm>
            <a:off x="1206246" y="1426464"/>
            <a:ext cx="0" cy="128016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1" name="Shape 33"/>
          <p:cNvSpPr/>
          <p:nvPr/>
        </p:nvSpPr>
        <p:spPr>
          <a:xfrm>
            <a:off x="1206246" y="1554480"/>
            <a:ext cx="3505" cy="0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2" name="Shape 34"/>
          <p:cNvSpPr/>
          <p:nvPr/>
        </p:nvSpPr>
        <p:spPr>
          <a:xfrm>
            <a:off x="1209751" y="1554480"/>
            <a:ext cx="0" cy="164592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3" name="Shape 35"/>
          <p:cNvSpPr/>
          <p:nvPr/>
        </p:nvSpPr>
        <p:spPr>
          <a:xfrm>
            <a:off x="3161538" y="1426464"/>
            <a:ext cx="0" cy="128016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4" name="Shape 36"/>
          <p:cNvSpPr/>
          <p:nvPr/>
        </p:nvSpPr>
        <p:spPr>
          <a:xfrm flipH="1">
            <a:off x="2952598" y="1554480"/>
            <a:ext cx="208940" cy="0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5" name="Shape 37"/>
          <p:cNvSpPr/>
          <p:nvPr/>
        </p:nvSpPr>
        <p:spPr>
          <a:xfrm>
            <a:off x="2952598" y="1554480"/>
            <a:ext cx="0" cy="164592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6" name="Shape 38"/>
          <p:cNvSpPr/>
          <p:nvPr/>
        </p:nvSpPr>
        <p:spPr>
          <a:xfrm>
            <a:off x="5116830" y="1426464"/>
            <a:ext cx="0" cy="128016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7" name="Shape 39"/>
          <p:cNvSpPr/>
          <p:nvPr/>
        </p:nvSpPr>
        <p:spPr>
          <a:xfrm flipH="1">
            <a:off x="4695444" y="1554480"/>
            <a:ext cx="421386" cy="0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8" name="Shape 40"/>
          <p:cNvSpPr/>
          <p:nvPr/>
        </p:nvSpPr>
        <p:spPr>
          <a:xfrm>
            <a:off x="4695444" y="1554480"/>
            <a:ext cx="0" cy="164592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49" name="Shape 41"/>
          <p:cNvSpPr/>
          <p:nvPr/>
        </p:nvSpPr>
        <p:spPr>
          <a:xfrm>
            <a:off x="7072122" y="1426464"/>
            <a:ext cx="0" cy="128016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50" name="Shape 42"/>
          <p:cNvSpPr/>
          <p:nvPr/>
        </p:nvSpPr>
        <p:spPr>
          <a:xfrm flipH="1">
            <a:off x="6438290" y="1554480"/>
            <a:ext cx="633832" cy="0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51" name="Shape 43"/>
          <p:cNvSpPr/>
          <p:nvPr/>
        </p:nvSpPr>
        <p:spPr>
          <a:xfrm>
            <a:off x="6438290" y="1554480"/>
            <a:ext cx="0" cy="164592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52" name="Shape 44"/>
          <p:cNvSpPr/>
          <p:nvPr/>
        </p:nvSpPr>
        <p:spPr>
          <a:xfrm>
            <a:off x="9027414" y="1426464"/>
            <a:ext cx="0" cy="128016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53" name="Shape 45"/>
          <p:cNvSpPr/>
          <p:nvPr/>
        </p:nvSpPr>
        <p:spPr>
          <a:xfrm flipH="1">
            <a:off x="8181137" y="1554480"/>
            <a:ext cx="846277" cy="0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54" name="Shape 46"/>
          <p:cNvSpPr/>
          <p:nvPr/>
        </p:nvSpPr>
        <p:spPr>
          <a:xfrm>
            <a:off x="8181137" y="1554480"/>
            <a:ext cx="0" cy="164592"/>
          </a:xfrm>
          <a:prstGeom prst="line">
            <a:avLst/>
          </a:prstGeom>
          <a:noFill/>
          <a:ln w="11430">
            <a:solidFill>
              <a:srgbClr val="C7930A"/>
            </a:solidFill>
            <a:prstDash val="dash"/>
          </a:ln>
        </p:spPr>
      </p:sp>
      <p:sp>
        <p:nvSpPr>
          <p:cNvPr id="55" name="Shape 47"/>
          <p:cNvSpPr/>
          <p:nvPr/>
        </p:nvSpPr>
        <p:spPr>
          <a:xfrm>
            <a:off x="274320" y="1719072"/>
            <a:ext cx="8732520" cy="960120"/>
          </a:xfrm>
          <a:prstGeom prst="roundRect">
            <a:avLst>
              <a:gd name="adj" fmla="val 3810"/>
            </a:avLst>
          </a:prstGeom>
          <a:ln w="12700">
            <a:solidFill>
              <a:srgbClr val="FF9900"/>
            </a:solidFill>
            <a:prstDash val="dash"/>
          </a:ln>
        </p:spPr>
      </p:sp>
      <p:sp>
        <p:nvSpPr>
          <p:cNvPr id="56" name="Text 48"/>
          <p:cNvSpPr/>
          <p:nvPr/>
        </p:nvSpPr>
        <p:spPr>
          <a:xfrm>
            <a:off x="384048" y="1737360"/>
            <a:ext cx="6858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 (STANDARD)  ·  INDEXING ORCHESTRATION</a:t>
            </a:r>
            <a:endParaRPr lang="en-US" sz="730" dirty="0"/>
          </a:p>
        </p:txBody>
      </p:sp>
      <p:sp>
        <p:nvSpPr>
          <p:cNvPr id="57" name="Shape 49"/>
          <p:cNvSpPr/>
          <p:nvPr/>
        </p:nvSpPr>
        <p:spPr>
          <a:xfrm>
            <a:off x="384048" y="1901952"/>
            <a:ext cx="165140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438912" y="1956816"/>
            <a:ext cx="182880" cy="1828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59" name="Text 51"/>
          <p:cNvSpPr/>
          <p:nvPr/>
        </p:nvSpPr>
        <p:spPr>
          <a:xfrm>
            <a:off x="438912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438912" y="2176272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438912" y="2359152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mailboxes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Kong API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 Graph for email)</a:t>
            </a:r>
            <a:endParaRPr lang="en-US" sz="600" dirty="0"/>
          </a:p>
        </p:txBody>
      </p:sp>
      <p:sp>
        <p:nvSpPr>
          <p:cNvPr id="62" name="Shape 54"/>
          <p:cNvSpPr/>
          <p:nvPr/>
        </p:nvSpPr>
        <p:spPr>
          <a:xfrm>
            <a:off x="2035454" y="2290572"/>
            <a:ext cx="91440" cy="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2126894" y="1901952"/>
            <a:ext cx="165140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2181758" y="1956816"/>
            <a:ext cx="182880" cy="1828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5" name="Text 57"/>
          <p:cNvSpPr/>
          <p:nvPr/>
        </p:nvSpPr>
        <p:spPr>
          <a:xfrm>
            <a:off x="2181758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Text 58"/>
          <p:cNvSpPr/>
          <p:nvPr/>
        </p:nvSpPr>
        <p:spPr>
          <a:xfrm>
            <a:off x="2181758" y="2176272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2181758" y="2359152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Doc to Cloud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endpoint</a:t>
            </a:r>
            <a:endParaRPr lang="en-US" sz="600" dirty="0"/>
          </a:p>
        </p:txBody>
      </p:sp>
      <p:sp>
        <p:nvSpPr>
          <p:cNvPr id="68" name="Shape 60"/>
          <p:cNvSpPr/>
          <p:nvPr/>
        </p:nvSpPr>
        <p:spPr>
          <a:xfrm>
            <a:off x="3778301" y="2290572"/>
            <a:ext cx="91440" cy="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3869741" y="1901952"/>
            <a:ext cx="165140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3924605" y="1956816"/>
            <a:ext cx="182880" cy="1828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1" name="Text 63"/>
          <p:cNvSpPr/>
          <p:nvPr/>
        </p:nvSpPr>
        <p:spPr>
          <a:xfrm>
            <a:off x="3924605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2" name="Text 64"/>
          <p:cNvSpPr/>
          <p:nvPr/>
        </p:nvSpPr>
        <p:spPr>
          <a:xfrm>
            <a:off x="3924605" y="2176272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Extract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3924605" y="2359152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fields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trigger</a:t>
            </a:r>
            <a:endParaRPr lang="en-US" sz="600" dirty="0"/>
          </a:p>
        </p:txBody>
      </p:sp>
      <p:sp>
        <p:nvSpPr>
          <p:cNvPr id="74" name="Shape 66"/>
          <p:cNvSpPr/>
          <p:nvPr/>
        </p:nvSpPr>
        <p:spPr>
          <a:xfrm>
            <a:off x="5521147" y="2290572"/>
            <a:ext cx="91440" cy="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5612587" y="1901952"/>
            <a:ext cx="165140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5667451" y="1956816"/>
            <a:ext cx="182880" cy="1828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7" name="Text 69"/>
          <p:cNvSpPr/>
          <p:nvPr/>
        </p:nvSpPr>
        <p:spPr>
          <a:xfrm>
            <a:off x="5667451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8" name="Text 70"/>
          <p:cNvSpPr/>
          <p:nvPr/>
        </p:nvSpPr>
        <p:spPr>
          <a:xfrm>
            <a:off x="5667451" y="2176272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5667451" y="2359152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to SQL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SQL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+ Kong API</a:t>
            </a:r>
            <a:endParaRPr lang="en-US" sz="600" dirty="0"/>
          </a:p>
        </p:txBody>
      </p:sp>
      <p:sp>
        <p:nvSpPr>
          <p:cNvPr id="80" name="Shape 72"/>
          <p:cNvSpPr/>
          <p:nvPr/>
        </p:nvSpPr>
        <p:spPr>
          <a:xfrm>
            <a:off x="7263994" y="2290572"/>
            <a:ext cx="91440" cy="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7355434" y="1901952"/>
            <a:ext cx="165140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7410298" y="1956816"/>
            <a:ext cx="182880" cy="1828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83" name="Text 75"/>
          <p:cNvSpPr/>
          <p:nvPr/>
        </p:nvSpPr>
        <p:spPr>
          <a:xfrm>
            <a:off x="7410298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4" name="Text 76"/>
          <p:cNvSpPr/>
          <p:nvPr/>
        </p:nvSpPr>
        <p:spPr>
          <a:xfrm>
            <a:off x="7410298" y="2176272"/>
            <a:ext cx="15416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  <a:endParaRPr lang="en-US" sz="800" dirty="0"/>
          </a:p>
        </p:txBody>
      </p:sp>
      <p:sp>
        <p:nvSpPr>
          <p:cNvPr id="85" name="Text 77"/>
          <p:cNvSpPr/>
          <p:nvPr/>
        </p:nvSpPr>
        <p:spPr>
          <a:xfrm>
            <a:off x="7410298" y="2359152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OpsHive task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Kong API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API calls)</a:t>
            </a:r>
            <a:endParaRPr lang="en-US" sz="600" dirty="0"/>
          </a:p>
        </p:txBody>
      </p:sp>
      <p:sp>
        <p:nvSpPr>
          <p:cNvPr id="86" name="Shape 78"/>
          <p:cNvSpPr/>
          <p:nvPr/>
        </p:nvSpPr>
        <p:spPr>
          <a:xfrm>
            <a:off x="9189720" y="1901952"/>
            <a:ext cx="2724912" cy="777240"/>
          </a:xfrm>
          <a:prstGeom prst="rect">
            <a:avLst/>
          </a:prstGeom>
          <a:solidFill>
            <a:srgbClr val="232F3E"/>
          </a:solidFill>
          <a:ln/>
        </p:spPr>
      </p:sp>
      <p:pic>
        <p:nvPicPr>
          <p:cNvPr id="87" name="Image 6" descr="/home/claude/icons/fold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029968"/>
            <a:ext cx="292608" cy="292608"/>
          </a:xfrm>
          <a:prstGeom prst="rect">
            <a:avLst/>
          </a:prstGeom>
        </p:spPr>
      </p:pic>
      <p:sp>
        <p:nvSpPr>
          <p:cNvPr id="88" name="Text 79"/>
          <p:cNvSpPr/>
          <p:nvPr/>
        </p:nvSpPr>
        <p:spPr>
          <a:xfrm>
            <a:off x="9710928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TREX</a:t>
            </a:r>
            <a:endParaRPr lang="en-US" sz="1100" dirty="0"/>
          </a:p>
        </p:txBody>
      </p:sp>
      <p:sp>
        <p:nvSpPr>
          <p:cNvPr id="89" name="Text 80"/>
          <p:cNvSpPr/>
          <p:nvPr/>
        </p:nvSpPr>
        <p:spPr>
          <a:xfrm>
            <a:off x="9710928" y="2231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 · 87 task types</a:t>
            </a:r>
            <a:endParaRPr lang="en-US" sz="700" dirty="0"/>
          </a:p>
        </p:txBody>
      </p:sp>
      <p:sp>
        <p:nvSpPr>
          <p:cNvPr id="90" name="Text 81"/>
          <p:cNvSpPr/>
          <p:nvPr/>
        </p:nvSpPr>
        <p:spPr>
          <a:xfrm>
            <a:off x="9299448" y="2423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i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Create/update tasks · push field values · REST API</a:t>
            </a:r>
            <a:endParaRPr lang="en-US" sz="560" dirty="0"/>
          </a:p>
        </p:txBody>
      </p:sp>
      <p:sp>
        <p:nvSpPr>
          <p:cNvPr id="91" name="Shape 82"/>
          <p:cNvSpPr/>
          <p:nvPr/>
        </p:nvSpPr>
        <p:spPr>
          <a:xfrm>
            <a:off x="9006840" y="2290572"/>
            <a:ext cx="182880" cy="0"/>
          </a:xfrm>
          <a:prstGeom prst="line">
            <a:avLst/>
          </a:prstGeom>
          <a:noFill/>
          <a:ln w="15875">
            <a:solidFill>
              <a:srgbClr val="FF9900"/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4695444" y="2679192"/>
            <a:ext cx="0" cy="18288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</a:ln>
        </p:spPr>
      </p:sp>
      <p:sp>
        <p:nvSpPr>
          <p:cNvPr id="93" name="Shape 84"/>
          <p:cNvSpPr/>
          <p:nvPr/>
        </p:nvSpPr>
        <p:spPr>
          <a:xfrm flipH="1">
            <a:off x="1600200" y="2862072"/>
            <a:ext cx="3095244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</a:ln>
        </p:spPr>
      </p:sp>
      <p:sp>
        <p:nvSpPr>
          <p:cNvPr id="94" name="Shape 85"/>
          <p:cNvSpPr/>
          <p:nvPr/>
        </p:nvSpPr>
        <p:spPr>
          <a:xfrm>
            <a:off x="1600200" y="2862072"/>
            <a:ext cx="0" cy="201168"/>
          </a:xfrm>
          <a:prstGeom prst="line">
            <a:avLst/>
          </a:prstGeom>
          <a:noFill/>
          <a:ln w="12700">
            <a:solidFill>
              <a:srgbClr val="FF9900"/>
            </a:solidFill>
            <a:prstDash val="dash"/>
          </a:ln>
        </p:spPr>
      </p:sp>
      <p:sp>
        <p:nvSpPr>
          <p:cNvPr id="95" name="Text 86"/>
          <p:cNvSpPr/>
          <p:nvPr/>
        </p:nvSpPr>
        <p:spPr>
          <a:xfrm>
            <a:off x="4146804" y="27066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score &lt; 90</a:t>
            </a:r>
            <a:endParaRPr lang="en-US" sz="550" dirty="0"/>
          </a:p>
        </p:txBody>
      </p:sp>
      <p:sp>
        <p:nvSpPr>
          <p:cNvPr id="96" name="Shape 87"/>
          <p:cNvSpPr/>
          <p:nvPr/>
        </p:nvSpPr>
        <p:spPr>
          <a:xfrm>
            <a:off x="274320" y="3063240"/>
            <a:ext cx="2651760" cy="71323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97" name="Image 7" descr="/home/claude/icons/user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182112"/>
            <a:ext cx="256032" cy="256032"/>
          </a:xfrm>
          <a:prstGeom prst="rect">
            <a:avLst/>
          </a:prstGeom>
        </p:spPr>
      </p:pic>
      <p:sp>
        <p:nvSpPr>
          <p:cNvPr id="98" name="Text 88"/>
          <p:cNvSpPr/>
          <p:nvPr/>
        </p:nvSpPr>
        <p:spPr>
          <a:xfrm>
            <a:off x="731520" y="31546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800" dirty="0"/>
          </a:p>
        </p:txBody>
      </p:sp>
      <p:sp>
        <p:nvSpPr>
          <p:cNvPr id="99" name="Text 89"/>
          <p:cNvSpPr/>
          <p:nvPr/>
        </p:nvSpPr>
        <p:spPr>
          <a:xfrm>
            <a:off x="731520" y="337413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FF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low-confidence extractions</a:t>
            </a:r>
            <a:endParaRPr lang="en-US" sz="630" dirty="0"/>
          </a:p>
        </p:txBody>
      </p:sp>
      <p:sp>
        <p:nvSpPr>
          <p:cNvPr id="100" name="Shape 90"/>
          <p:cNvSpPr/>
          <p:nvPr/>
        </p:nvSpPr>
        <p:spPr>
          <a:xfrm>
            <a:off x="2926080" y="3419856"/>
            <a:ext cx="137160" cy="0"/>
          </a:xfrm>
          <a:prstGeom prst="line">
            <a:avLst/>
          </a:prstGeom>
          <a:noFill/>
          <a:ln w="13970">
            <a:solidFill>
              <a:srgbClr val="232F3E"/>
            </a:solidFill>
            <a:prstDash val="solid"/>
          </a:ln>
        </p:spPr>
      </p:sp>
      <p:sp>
        <p:nvSpPr>
          <p:cNvPr id="101" name="Shape 91"/>
          <p:cNvSpPr/>
          <p:nvPr/>
        </p:nvSpPr>
        <p:spPr>
          <a:xfrm>
            <a:off x="3063240" y="306324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102" name="Image 8" descr="/home/claude/icons/desktop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2968" y="3182112"/>
            <a:ext cx="237744" cy="237744"/>
          </a:xfrm>
          <a:prstGeom prst="rect">
            <a:avLst/>
          </a:prstGeom>
        </p:spPr>
      </p:pic>
      <p:sp>
        <p:nvSpPr>
          <p:cNvPr id="103" name="Text 92"/>
          <p:cNvSpPr/>
          <p:nvPr/>
        </p:nvSpPr>
        <p:spPr>
          <a:xfrm>
            <a:off x="3520440" y="3154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React UI</a:t>
            </a:r>
            <a:endParaRPr lang="en-US" sz="750" dirty="0"/>
          </a:p>
        </p:txBody>
      </p:sp>
      <p:sp>
        <p:nvSpPr>
          <p:cNvPr id="104" name="Text 93"/>
          <p:cNvSpPr/>
          <p:nvPr/>
        </p:nvSpPr>
        <p:spPr>
          <a:xfrm>
            <a:off x="3172968" y="3374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AWS-hosted HITL review pages</a:t>
            </a:r>
            <a:endParaRPr lang="en-US" sz="630" dirty="0"/>
          </a:p>
        </p:txBody>
      </p:sp>
      <p:sp>
        <p:nvSpPr>
          <p:cNvPr id="105" name="Shape 94"/>
          <p:cNvSpPr/>
          <p:nvPr/>
        </p:nvSpPr>
        <p:spPr>
          <a:xfrm flipV="1">
            <a:off x="4366260" y="2862072"/>
            <a:ext cx="0" cy="201168"/>
          </a:xfrm>
          <a:prstGeom prst="line">
            <a:avLst/>
          </a:prstGeom>
          <a:noFill/>
          <a:ln w="13970">
            <a:solidFill>
              <a:srgbClr val="232F3E"/>
            </a:solidFill>
            <a:prstDash val="solid"/>
          </a:ln>
        </p:spPr>
      </p:sp>
      <p:sp>
        <p:nvSpPr>
          <p:cNvPr id="106" name="Shape 95"/>
          <p:cNvSpPr/>
          <p:nvPr/>
        </p:nvSpPr>
        <p:spPr>
          <a:xfrm>
            <a:off x="4366260" y="2862072"/>
            <a:ext cx="2072030" cy="0"/>
          </a:xfrm>
          <a:prstGeom prst="line">
            <a:avLst/>
          </a:prstGeom>
          <a:noFill/>
          <a:ln w="13970">
            <a:solidFill>
              <a:srgbClr val="232F3E"/>
            </a:solidFill>
            <a:prstDash val="solid"/>
          </a:ln>
        </p:spPr>
      </p:sp>
      <p:sp>
        <p:nvSpPr>
          <p:cNvPr id="107" name="Shape 96"/>
          <p:cNvSpPr/>
          <p:nvPr/>
        </p:nvSpPr>
        <p:spPr>
          <a:xfrm flipV="1">
            <a:off x="6438290" y="2679192"/>
            <a:ext cx="0" cy="182880"/>
          </a:xfrm>
          <a:prstGeom prst="line">
            <a:avLst/>
          </a:prstGeom>
          <a:noFill/>
          <a:ln w="13970">
            <a:solidFill>
              <a:srgbClr val="232F3E"/>
            </a:solidFill>
            <a:prstDash val="solid"/>
          </a:ln>
        </p:spPr>
      </p:sp>
      <p:sp>
        <p:nvSpPr>
          <p:cNvPr id="108" name="Text 97"/>
          <p:cNvSpPr/>
          <p:nvPr/>
        </p:nvSpPr>
        <p:spPr>
          <a:xfrm>
            <a:off x="5752490" y="27066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 returned</a:t>
            </a:r>
            <a:endParaRPr lang="en-US" sz="550" dirty="0"/>
          </a:p>
        </p:txBody>
      </p:sp>
      <p:sp>
        <p:nvSpPr>
          <p:cNvPr id="109" name="Shape 98"/>
          <p:cNvSpPr/>
          <p:nvPr/>
        </p:nvSpPr>
        <p:spPr>
          <a:xfrm>
            <a:off x="5989320" y="306324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110" name="Image 9" descr="/home/claude/icons/users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048" y="3182112"/>
            <a:ext cx="237744" cy="237744"/>
          </a:xfrm>
          <a:prstGeom prst="rect">
            <a:avLst/>
          </a:prstGeom>
        </p:spPr>
      </p:pic>
      <p:sp>
        <p:nvSpPr>
          <p:cNvPr id="111" name="Text 99"/>
          <p:cNvSpPr/>
          <p:nvPr/>
        </p:nvSpPr>
        <p:spPr>
          <a:xfrm>
            <a:off x="6428232" y="315468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Team</a:t>
            </a:r>
            <a:endParaRPr lang="en-US" sz="800" dirty="0"/>
          </a:p>
        </p:txBody>
      </p:sp>
      <p:sp>
        <p:nvSpPr>
          <p:cNvPr id="112" name="Text 100"/>
          <p:cNvSpPr/>
          <p:nvPr/>
        </p:nvSpPr>
        <p:spPr>
          <a:xfrm>
            <a:off x="6428232" y="337413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mailbox (manual)</a:t>
            </a:r>
            <a:endParaRPr lang="en-US" sz="630" dirty="0"/>
          </a:p>
        </p:txBody>
      </p:sp>
      <p:sp>
        <p:nvSpPr>
          <p:cNvPr id="113" name="Shape 101"/>
          <p:cNvSpPr/>
          <p:nvPr/>
        </p:nvSpPr>
        <p:spPr>
          <a:xfrm>
            <a:off x="8138160" y="3419856"/>
            <a:ext cx="1051560" cy="0"/>
          </a:xfrm>
          <a:prstGeom prst="line">
            <a:avLst/>
          </a:prstGeom>
          <a:noFill/>
          <a:ln w="11430">
            <a:solidFill>
              <a:srgbClr val="5B6B7D"/>
            </a:solidFill>
            <a:prstDash val="dash"/>
          </a:ln>
        </p:spPr>
      </p:sp>
      <p:sp>
        <p:nvSpPr>
          <p:cNvPr id="114" name="Text 102"/>
          <p:cNvSpPr/>
          <p:nvPr/>
        </p:nvSpPr>
        <p:spPr>
          <a:xfrm>
            <a:off x="8183880" y="32004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 Lookup · OAuth 2.0</a:t>
            </a:r>
            <a:endParaRPr lang="en-US" sz="550" dirty="0"/>
          </a:p>
        </p:txBody>
      </p:sp>
      <p:sp>
        <p:nvSpPr>
          <p:cNvPr id="115" name="Shape 103"/>
          <p:cNvSpPr/>
          <p:nvPr/>
        </p:nvSpPr>
        <p:spPr>
          <a:xfrm>
            <a:off x="274320" y="4142232"/>
            <a:ext cx="8732520" cy="960120"/>
          </a:xfrm>
          <a:prstGeom prst="roundRect">
            <a:avLst>
              <a:gd name="adj" fmla="val 3810"/>
            </a:avLst>
          </a:prstGeom>
          <a:ln w="12700">
            <a:solidFill>
              <a:srgbClr val="232F3E"/>
            </a:solidFill>
            <a:prstDash val="dash"/>
          </a:ln>
        </p:spPr>
      </p:sp>
      <p:sp>
        <p:nvSpPr>
          <p:cNvPr id="116" name="Text 104"/>
          <p:cNvSpPr/>
          <p:nvPr/>
        </p:nvSpPr>
        <p:spPr>
          <a:xfrm>
            <a:off x="384048" y="4160520"/>
            <a:ext cx="68580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 (STANDARD)  ·  CCT / EIS ORCHESTRATION</a:t>
            </a:r>
            <a:endParaRPr lang="en-US" sz="730" dirty="0"/>
          </a:p>
        </p:txBody>
      </p:sp>
      <p:sp>
        <p:nvSpPr>
          <p:cNvPr id="117" name="Shape 105"/>
          <p:cNvSpPr/>
          <p:nvPr/>
        </p:nvSpPr>
        <p:spPr>
          <a:xfrm>
            <a:off x="384048" y="4325112"/>
            <a:ext cx="162946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8" name="Shape 106"/>
          <p:cNvSpPr/>
          <p:nvPr/>
        </p:nvSpPr>
        <p:spPr>
          <a:xfrm>
            <a:off x="438912" y="4379976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9" name="Text 107"/>
          <p:cNvSpPr/>
          <p:nvPr/>
        </p:nvSpPr>
        <p:spPr>
          <a:xfrm>
            <a:off x="438912" y="4379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0" name="Text 108"/>
          <p:cNvSpPr/>
          <p:nvPr/>
        </p:nvSpPr>
        <p:spPr>
          <a:xfrm>
            <a:off x="438912" y="4599432"/>
            <a:ext cx="1519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(manual)</a:t>
            </a:r>
            <a:endParaRPr lang="en-US" sz="800" dirty="0"/>
          </a:p>
        </p:txBody>
      </p:sp>
      <p:sp>
        <p:nvSpPr>
          <p:cNvPr id="121" name="Text 109"/>
          <p:cNvSpPr/>
          <p:nvPr/>
        </p:nvSpPr>
        <p:spPr>
          <a:xfrm>
            <a:off x="438912" y="4782312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category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Kong API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 Graph for email)</a:t>
            </a:r>
            <a:endParaRPr lang="en-US" sz="600" dirty="0"/>
          </a:p>
        </p:txBody>
      </p:sp>
      <p:sp>
        <p:nvSpPr>
          <p:cNvPr id="122" name="Shape 110"/>
          <p:cNvSpPr/>
          <p:nvPr/>
        </p:nvSpPr>
        <p:spPr>
          <a:xfrm>
            <a:off x="2013509" y="4713732"/>
            <a:ext cx="91440" cy="0"/>
          </a:xfrm>
          <a:prstGeom prst="line">
            <a:avLst/>
          </a:prstGeom>
          <a:noFill/>
          <a:ln w="15875">
            <a:solidFill>
              <a:srgbClr val="232F3E"/>
            </a:solidFill>
            <a:prstDash val="solid"/>
          </a:ln>
        </p:spPr>
      </p:sp>
      <p:sp>
        <p:nvSpPr>
          <p:cNvPr id="123" name="Shape 111"/>
          <p:cNvSpPr/>
          <p:nvPr/>
        </p:nvSpPr>
        <p:spPr>
          <a:xfrm>
            <a:off x="2104949" y="4325112"/>
            <a:ext cx="162946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4" name="Shape 112"/>
          <p:cNvSpPr/>
          <p:nvPr/>
        </p:nvSpPr>
        <p:spPr>
          <a:xfrm>
            <a:off x="2159813" y="4379976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5" name="Text 113"/>
          <p:cNvSpPr/>
          <p:nvPr/>
        </p:nvSpPr>
        <p:spPr>
          <a:xfrm>
            <a:off x="2159813" y="4379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6" name="Text 114"/>
          <p:cNvSpPr/>
          <p:nvPr/>
        </p:nvSpPr>
        <p:spPr>
          <a:xfrm>
            <a:off x="2159813" y="4599432"/>
            <a:ext cx="1519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Add Doc</a:t>
            </a:r>
            <a:endParaRPr lang="en-US" sz="800" dirty="0"/>
          </a:p>
        </p:txBody>
      </p:sp>
      <p:sp>
        <p:nvSpPr>
          <p:cNvPr id="127" name="Text 115"/>
          <p:cNvSpPr/>
          <p:nvPr/>
        </p:nvSpPr>
        <p:spPr>
          <a:xfrm>
            <a:off x="2159813" y="4782312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Doc to Cloud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endpoint</a:t>
            </a:r>
            <a:endParaRPr lang="en-US" sz="600" dirty="0"/>
          </a:p>
        </p:txBody>
      </p:sp>
      <p:sp>
        <p:nvSpPr>
          <p:cNvPr id="128" name="Shape 116"/>
          <p:cNvSpPr/>
          <p:nvPr/>
        </p:nvSpPr>
        <p:spPr>
          <a:xfrm>
            <a:off x="3734410" y="4713732"/>
            <a:ext cx="91440" cy="0"/>
          </a:xfrm>
          <a:prstGeom prst="line">
            <a:avLst/>
          </a:prstGeom>
          <a:noFill/>
          <a:ln w="15875">
            <a:solidFill>
              <a:srgbClr val="232F3E"/>
            </a:solidFill>
            <a:prstDash val="solid"/>
          </a:ln>
        </p:spPr>
      </p:sp>
      <p:sp>
        <p:nvSpPr>
          <p:cNvPr id="129" name="Shape 117"/>
          <p:cNvSpPr/>
          <p:nvPr/>
        </p:nvSpPr>
        <p:spPr>
          <a:xfrm>
            <a:off x="3825850" y="4325112"/>
            <a:ext cx="162946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0" name="Shape 118"/>
          <p:cNvSpPr/>
          <p:nvPr/>
        </p:nvSpPr>
        <p:spPr>
          <a:xfrm>
            <a:off x="3880714" y="4379976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1" name="Text 119"/>
          <p:cNvSpPr/>
          <p:nvPr/>
        </p:nvSpPr>
        <p:spPr>
          <a:xfrm>
            <a:off x="3880714" y="4379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32" name="Text 120"/>
          <p:cNvSpPr/>
          <p:nvPr/>
        </p:nvSpPr>
        <p:spPr>
          <a:xfrm>
            <a:off x="3880714" y="4599432"/>
            <a:ext cx="1519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800" dirty="0"/>
          </a:p>
        </p:txBody>
      </p:sp>
      <p:sp>
        <p:nvSpPr>
          <p:cNvPr id="133" name="Text 121"/>
          <p:cNvSpPr/>
          <p:nvPr/>
        </p:nvSpPr>
        <p:spPr>
          <a:xfrm>
            <a:off x="3880714" y="4782312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Policy / Cert /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Kong API</a:t>
            </a:r>
            <a:endParaRPr lang="en-US" sz="600" dirty="0"/>
          </a:p>
        </p:txBody>
      </p:sp>
      <p:sp>
        <p:nvSpPr>
          <p:cNvPr id="134" name="Shape 122"/>
          <p:cNvSpPr/>
          <p:nvPr/>
        </p:nvSpPr>
        <p:spPr>
          <a:xfrm>
            <a:off x="5455310" y="4713732"/>
            <a:ext cx="91440" cy="0"/>
          </a:xfrm>
          <a:prstGeom prst="line">
            <a:avLst/>
          </a:prstGeom>
          <a:noFill/>
          <a:ln w="15875">
            <a:solidFill>
              <a:srgbClr val="232F3E"/>
            </a:solidFill>
            <a:prstDash val="solid"/>
          </a:ln>
        </p:spPr>
      </p:sp>
      <p:sp>
        <p:nvSpPr>
          <p:cNvPr id="135" name="Shape 123"/>
          <p:cNvSpPr/>
          <p:nvPr/>
        </p:nvSpPr>
        <p:spPr>
          <a:xfrm>
            <a:off x="5546750" y="4325112"/>
            <a:ext cx="162946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6" name="Shape 124"/>
          <p:cNvSpPr/>
          <p:nvPr/>
        </p:nvSpPr>
        <p:spPr>
          <a:xfrm>
            <a:off x="5601614" y="4379976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7" name="Text 125"/>
          <p:cNvSpPr/>
          <p:nvPr/>
        </p:nvSpPr>
        <p:spPr>
          <a:xfrm>
            <a:off x="5601614" y="4379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26"/>
          <p:cNvSpPr/>
          <p:nvPr/>
        </p:nvSpPr>
        <p:spPr>
          <a:xfrm>
            <a:off x="5601614" y="4599432"/>
            <a:ext cx="1519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Enrich Doc</a:t>
            </a:r>
            <a:endParaRPr lang="en-US" sz="800" dirty="0"/>
          </a:p>
        </p:txBody>
      </p:sp>
      <p:sp>
        <p:nvSpPr>
          <p:cNvPr id="139" name="Text 127"/>
          <p:cNvSpPr/>
          <p:nvPr/>
        </p:nvSpPr>
        <p:spPr>
          <a:xfrm>
            <a:off x="5601614" y="4782312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FileNet E-Folders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600" dirty="0"/>
          </a:p>
        </p:txBody>
      </p:sp>
      <p:sp>
        <p:nvSpPr>
          <p:cNvPr id="140" name="Shape 128"/>
          <p:cNvSpPr/>
          <p:nvPr/>
        </p:nvSpPr>
        <p:spPr>
          <a:xfrm>
            <a:off x="7176211" y="4713732"/>
            <a:ext cx="91440" cy="0"/>
          </a:xfrm>
          <a:prstGeom prst="line">
            <a:avLst/>
          </a:prstGeom>
          <a:noFill/>
          <a:ln w="15875">
            <a:solidFill>
              <a:srgbClr val="232F3E"/>
            </a:solidFill>
            <a:prstDash val="solid"/>
          </a:ln>
        </p:spPr>
      </p:sp>
      <p:sp>
        <p:nvSpPr>
          <p:cNvPr id="141" name="Shape 129"/>
          <p:cNvSpPr/>
          <p:nvPr/>
        </p:nvSpPr>
        <p:spPr>
          <a:xfrm>
            <a:off x="7267651" y="4325112"/>
            <a:ext cx="162946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2" name="Shape 130"/>
          <p:cNvSpPr/>
          <p:nvPr/>
        </p:nvSpPr>
        <p:spPr>
          <a:xfrm>
            <a:off x="7322515" y="4379976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3" name="Text 131"/>
          <p:cNvSpPr/>
          <p:nvPr/>
        </p:nvSpPr>
        <p:spPr>
          <a:xfrm>
            <a:off x="7322515" y="4379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44" name="Text 132"/>
          <p:cNvSpPr/>
          <p:nvPr/>
        </p:nvSpPr>
        <p:spPr>
          <a:xfrm>
            <a:off x="7322515" y="4599432"/>
            <a:ext cx="1519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Notify</a:t>
            </a:r>
            <a:endParaRPr lang="en-US" sz="800" dirty="0"/>
          </a:p>
        </p:txBody>
      </p:sp>
      <p:sp>
        <p:nvSpPr>
          <p:cNvPr id="145" name="Text 133"/>
          <p:cNvSpPr/>
          <p:nvPr/>
        </p:nvSpPr>
        <p:spPr>
          <a:xfrm>
            <a:off x="7322515" y="4782312"/>
            <a:ext cx="1519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Print = No</a:t>
            </a:r>
            <a:endParaRPr lang="en-US" sz="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SNS</a:t>
            </a:r>
            <a:endParaRPr lang="en-US" sz="600" dirty="0"/>
          </a:p>
        </p:txBody>
      </p:sp>
      <p:sp>
        <p:nvSpPr>
          <p:cNvPr id="146" name="Shape 134"/>
          <p:cNvSpPr/>
          <p:nvPr/>
        </p:nvSpPr>
        <p:spPr>
          <a:xfrm>
            <a:off x="7063740" y="3776472"/>
            <a:ext cx="0" cy="182880"/>
          </a:xfrm>
          <a:prstGeom prst="line">
            <a:avLst/>
          </a:prstGeom>
          <a:noFill/>
          <a:ln w="12700">
            <a:solidFill>
              <a:srgbClr val="5B6B7D"/>
            </a:solidFill>
            <a:prstDash val="dash"/>
          </a:ln>
        </p:spPr>
      </p:sp>
      <p:sp>
        <p:nvSpPr>
          <p:cNvPr id="147" name="Shape 135"/>
          <p:cNvSpPr/>
          <p:nvPr/>
        </p:nvSpPr>
        <p:spPr>
          <a:xfrm flipH="1">
            <a:off x="1198778" y="3959352"/>
            <a:ext cx="5864962" cy="0"/>
          </a:xfrm>
          <a:prstGeom prst="line">
            <a:avLst/>
          </a:prstGeom>
          <a:noFill/>
          <a:ln w="12700">
            <a:solidFill>
              <a:srgbClr val="5B6B7D"/>
            </a:solidFill>
            <a:prstDash val="dash"/>
          </a:ln>
        </p:spPr>
      </p:sp>
      <p:sp>
        <p:nvSpPr>
          <p:cNvPr id="148" name="Shape 136"/>
          <p:cNvSpPr/>
          <p:nvPr/>
        </p:nvSpPr>
        <p:spPr>
          <a:xfrm>
            <a:off x="1198778" y="3959352"/>
            <a:ext cx="0" cy="182880"/>
          </a:xfrm>
          <a:prstGeom prst="line">
            <a:avLst/>
          </a:prstGeom>
          <a:noFill/>
          <a:ln w="12700">
            <a:solidFill>
              <a:srgbClr val="5B6B7D"/>
            </a:solidFill>
            <a:prstDash val="dash"/>
          </a:ln>
        </p:spPr>
      </p:sp>
      <p:sp>
        <p:nvSpPr>
          <p:cNvPr id="149" name="Text 137"/>
          <p:cNvSpPr/>
          <p:nvPr/>
        </p:nvSpPr>
        <p:spPr>
          <a:xfrm>
            <a:off x="650138" y="38039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intake</a:t>
            </a:r>
            <a:endParaRPr lang="en-US" sz="550" dirty="0"/>
          </a:p>
        </p:txBody>
      </p:sp>
      <p:sp>
        <p:nvSpPr>
          <p:cNvPr id="150" name="Shape 138"/>
          <p:cNvSpPr/>
          <p:nvPr/>
        </p:nvSpPr>
        <p:spPr>
          <a:xfrm flipV="1">
            <a:off x="4640580" y="4005072"/>
            <a:ext cx="0" cy="320040"/>
          </a:xfrm>
          <a:prstGeom prst="line">
            <a:avLst/>
          </a:prstGeom>
          <a:noFill/>
          <a:ln w="11430">
            <a:solidFill>
              <a:srgbClr val="5B6B7D"/>
            </a:solidFill>
            <a:prstDash val="dash"/>
          </a:ln>
        </p:spPr>
      </p:sp>
      <p:sp>
        <p:nvSpPr>
          <p:cNvPr id="151" name="Shape 139"/>
          <p:cNvSpPr/>
          <p:nvPr/>
        </p:nvSpPr>
        <p:spPr>
          <a:xfrm>
            <a:off x="4640580" y="4005072"/>
            <a:ext cx="4549140" cy="0"/>
          </a:xfrm>
          <a:prstGeom prst="line">
            <a:avLst/>
          </a:prstGeom>
          <a:noFill/>
          <a:ln w="11430">
            <a:solidFill>
              <a:srgbClr val="5B6B7D"/>
            </a:solidFill>
            <a:prstDash val="dash"/>
          </a:ln>
        </p:spPr>
      </p:sp>
      <p:sp>
        <p:nvSpPr>
          <p:cNvPr id="152" name="Text 140"/>
          <p:cNvSpPr/>
          <p:nvPr/>
        </p:nvSpPr>
        <p:spPr>
          <a:xfrm>
            <a:off x="4914900" y="38313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 Lookup</a:t>
            </a:r>
            <a:endParaRPr lang="en-US" sz="550" dirty="0"/>
          </a:p>
        </p:txBody>
      </p:sp>
      <p:sp>
        <p:nvSpPr>
          <p:cNvPr id="153" name="Shape 141"/>
          <p:cNvSpPr/>
          <p:nvPr/>
        </p:nvSpPr>
        <p:spPr>
          <a:xfrm>
            <a:off x="9189720" y="2990088"/>
            <a:ext cx="2724912" cy="2112264"/>
          </a:xfrm>
          <a:prstGeom prst="rect">
            <a:avLst/>
          </a:prstGeom>
          <a:solidFill>
            <a:srgbClr val="E7EAEF"/>
          </a:solidFill>
          <a:ln w="12700">
            <a:solidFill>
              <a:srgbClr val="D9E1EA"/>
            </a:solidFill>
            <a:prstDash val="solid"/>
          </a:ln>
        </p:spPr>
      </p:sp>
      <p:pic>
        <p:nvPicPr>
          <p:cNvPr id="154" name="Image 10" descr="/home/claude/icons/building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5560" y="3209544"/>
            <a:ext cx="420624" cy="420624"/>
          </a:xfrm>
          <a:prstGeom prst="rect">
            <a:avLst/>
          </a:prstGeom>
        </p:spPr>
      </p:pic>
      <p:sp>
        <p:nvSpPr>
          <p:cNvPr id="155" name="Text 142"/>
          <p:cNvSpPr/>
          <p:nvPr/>
        </p:nvSpPr>
        <p:spPr>
          <a:xfrm>
            <a:off x="9189720" y="366674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</a:t>
            </a:r>
            <a:endParaRPr lang="en-US" sz="1300" dirty="0"/>
          </a:p>
        </p:txBody>
      </p:sp>
      <p:sp>
        <p:nvSpPr>
          <p:cNvPr id="156" name="Text 143"/>
          <p:cNvSpPr/>
          <p:nvPr/>
        </p:nvSpPr>
        <p:spPr>
          <a:xfrm>
            <a:off x="9326880" y="394106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Enterprise Information System</a:t>
            </a:r>
            <a:endParaRPr lang="en-US" sz="650" dirty="0"/>
          </a:p>
        </p:txBody>
      </p:sp>
      <p:sp>
        <p:nvSpPr>
          <p:cNvPr id="157" name="Shape 144"/>
          <p:cNvSpPr/>
          <p:nvPr/>
        </p:nvSpPr>
        <p:spPr>
          <a:xfrm>
            <a:off x="274320" y="5358384"/>
            <a:ext cx="11640312" cy="347472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8" name="Text 145"/>
          <p:cNvSpPr/>
          <p:nvPr/>
        </p:nvSpPr>
        <p:spPr>
          <a:xfrm>
            <a:off x="384048" y="535838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SQS / DLQ — queue management     •     AWS CloudTrail — auditing     •     AWS CloudWatch — monitoring     •     AWS IAM — access &amp; security     •     AWS KMS — key encryption</a:t>
            </a:r>
            <a:endParaRPr lang="en-US" sz="800" dirty="0"/>
          </a:p>
        </p:txBody>
      </p:sp>
      <p:sp>
        <p:nvSpPr>
          <p:cNvPr id="159" name="Text 146"/>
          <p:cNvSpPr/>
          <p:nvPr/>
        </p:nvSpPr>
        <p:spPr>
          <a:xfrm>
            <a:off x="274320" y="5779008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 → Orange = event-driven / orchestration flow      → Navy = system-of-record flow      → Grey dashed = lookup / auth handshake</a:t>
            </a:r>
            <a:endParaRPr lang="en-US" sz="700" dirty="0"/>
          </a:p>
        </p:txBody>
      </p:sp>
      <p:sp>
        <p:nvSpPr>
          <p:cNvPr id="160" name="Text 147"/>
          <p:cNvSpPr/>
          <p:nvPr/>
        </p:nvSpPr>
        <p:spPr>
          <a:xfrm>
            <a:off x="274320" y="6583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INTERNAL REVIEW</a:t>
            </a:r>
            <a:endParaRPr lang="en-US" sz="800" dirty="0"/>
          </a:p>
        </p:txBody>
      </p:sp>
      <p:sp>
        <p:nvSpPr>
          <p:cNvPr id="161" name="Text 148"/>
          <p:cNvSpPr/>
          <p:nvPr/>
        </p:nvSpPr>
        <p:spPr>
          <a:xfrm>
            <a:off x="10607040" y="6583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MassMutual Indexing Solution - AWS Low-Level Architecture</dc:title>
  <dc:subject>PptxGenJS Presentation</dc:subject>
  <dc:creator>MassMutual Indexing Solution</dc:creator>
  <cp:lastModifiedBy>MassMutual Indexing Solution</cp:lastModifiedBy>
  <cp:revision>1</cp:revision>
  <dcterms:created xsi:type="dcterms:W3CDTF">2026-08-17T16:28:37Z</dcterms:created>
  <dcterms:modified xsi:type="dcterms:W3CDTF">2026-08-17T16:28:37Z</dcterms:modified>
</cp:coreProperties>
</file>