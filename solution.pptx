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4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521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4304A"/>
                </a:solidFill>
                <a:latin typeface="Segoe UI"/>
              </a:rPr>
              <a:t>NIGO Provider Resolution — Target Solution Architecture (Azure)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9466" y="4023360"/>
            <a:ext cx="11457432" cy="0"/>
          </a:xfrm>
          <a:prstGeom prst="line">
            <a:avLst/>
          </a:prstGeom>
          <a:ln w="12700">
            <a:solidFill>
              <a:srgbClr val="E1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7044" y="2267712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5B6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044" y="2350008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5B6570"/>
                </a:solidFill>
                <a:latin typeface="Segoe UI"/>
              </a:rPr>
              <a:t>TRIGGER</a:t>
            </a:r>
          </a:p>
        </p:txBody>
      </p:sp>
      <p:pic>
        <p:nvPicPr>
          <p:cNvPr id="7" name="Picture 6" descr="tri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99" y="2587752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484" y="3044952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dirty="0">
                <a:solidFill>
                  <a:srgbClr val="1F2329"/>
                </a:solidFill>
                <a:latin typeface="Segoe UI"/>
              </a:rPr>
              <a:t>Batch flow / scheduler</a:t>
            </a:r>
          </a:p>
          <a:p>
            <a:pPr algn="ctr"/>
            <a:r>
              <a:rPr sz="900" b="0" i="0" dirty="0">
                <a:solidFill>
                  <a:srgbClr val="1F2329"/>
                </a:solidFill>
                <a:latin typeface="Segoe UI"/>
              </a:rPr>
              <a:t>or external REST call</a:t>
            </a:r>
          </a:p>
          <a:p>
            <a:pPr algn="ctr"/>
            <a:r>
              <a:rPr sz="900" b="0" i="0" dirty="0">
                <a:solidFill>
                  <a:srgbClr val="1F2329"/>
                </a:solidFill>
                <a:latin typeface="Segoe UI"/>
              </a:rPr>
              <a:t>(one per NIGO case)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53412" y="1403696"/>
            <a:ext cx="3200400" cy="3401568"/>
          </a:xfrm>
          <a:prstGeom prst="roundRect">
            <a:avLst>
              <a:gd name="adj" fmla="val 6000"/>
            </a:avLst>
          </a:prstGeom>
          <a:solidFill>
            <a:srgbClr val="E7F1FB"/>
          </a:solidFill>
          <a:ln w="2032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27198" y="15957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4304A"/>
                </a:solidFill>
                <a:latin typeface="Segoe UI"/>
              </a:rPr>
              <a:t>Azure Function — Orchestrator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0572" y="1906616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82012" y="19614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1F2329"/>
                </a:solidFill>
                <a:latin typeface="Segoe UI"/>
              </a:rPr>
              <a:t>1 · Read case + early exits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2012" y="2153504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dirty="0" smtClean="0">
                <a:solidFill>
                  <a:srgbClr val="5B6570"/>
                </a:solidFill>
                <a:latin typeface="Segoe UI"/>
              </a:rPr>
              <a:t>watch-list / delisted / phase ≥ 3 → escalate</a:t>
            </a:r>
            <a:endParaRPr sz="850" b="0" i="0" dirty="0">
              <a:solidFill>
                <a:srgbClr val="5B6570"/>
              </a:solidFill>
              <a:latin typeface="Segoe U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290572" y="2427824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82012" y="24826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329"/>
                </a:solidFill>
                <a:latin typeface="Segoe UI"/>
              </a:rPr>
              <a:t>2 · Classify by available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90572" y="2949032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FFF7E9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82012" y="300389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A4D12"/>
                </a:solidFill>
                <a:latin typeface="Segoe UI"/>
              </a:rPr>
              <a:t>3 · Deterministic resolve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90572" y="3470240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82012" y="352510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1F2329"/>
                </a:solidFill>
                <a:latin typeface="Segoe UI"/>
              </a:rPr>
              <a:t>4 · Route unresolved →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2012" y="3717127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dirty="0" smtClean="0">
                <a:solidFill>
                  <a:srgbClr val="5B6570"/>
                </a:solidFill>
                <a:latin typeface="Segoe UI"/>
              </a:rPr>
              <a:t>decide Agent 1 vs Agent 2</a:t>
            </a:r>
            <a:endParaRPr sz="850" b="0" i="0" dirty="0">
              <a:solidFill>
                <a:srgbClr val="5B6570"/>
              </a:solidFill>
              <a:latin typeface="Segoe U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290572" y="399144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82012" y="404631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1F2329"/>
                </a:solidFill>
                <a:latin typeface="Segoe UI"/>
              </a:rPr>
              <a:t>5 · Guardrails + write-back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63768" y="5481828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BF3F3"/>
          </a:solidFill>
          <a:ln w="16510">
            <a:solidFill>
              <a:srgbClr val="C73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73496" y="5554980"/>
            <a:ext cx="29809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7383A"/>
                </a:solidFill>
                <a:latin typeface="Segoe UI"/>
              </a:rPr>
              <a:t>SECURITY &amp; OBSERVABILITY</a:t>
            </a:r>
          </a:p>
        </p:txBody>
      </p:sp>
      <p:pic>
        <p:nvPicPr>
          <p:cNvPr id="30" name="Picture 29" descr="keyva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232" y="5792724"/>
            <a:ext cx="384048" cy="3840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300928" y="623163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F2329"/>
                </a:solidFill>
                <a:latin typeface="Segoe UI"/>
              </a:rPr>
              <a:t>Key Vault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00928" y="641451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B6570"/>
                </a:solidFill>
                <a:latin typeface="Segoe UI"/>
              </a:rPr>
              <a:t>secrets</a:t>
            </a:r>
          </a:p>
        </p:txBody>
      </p:sp>
      <p:pic>
        <p:nvPicPr>
          <p:cNvPr id="33" name="Picture 32" descr="ident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6184" y="5792724"/>
            <a:ext cx="384048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059880" y="623163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F2329"/>
                </a:solidFill>
                <a:latin typeface="Segoe UI"/>
              </a:rPr>
              <a:t>Managed 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59880" y="641451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B6570"/>
                </a:solidFill>
                <a:latin typeface="Segoe UI"/>
              </a:rPr>
              <a:t>auth</a:t>
            </a:r>
          </a:p>
        </p:txBody>
      </p:sp>
      <p:pic>
        <p:nvPicPr>
          <p:cNvPr id="36" name="Picture 35" descr="insigh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136" y="5792724"/>
            <a:ext cx="384048" cy="38404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818831" y="623163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F2329"/>
                </a:solidFill>
                <a:latin typeface="Segoe UI"/>
              </a:rPr>
              <a:t>Insights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8831" y="641451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B6570"/>
                </a:solidFill>
                <a:latin typeface="Segoe UI"/>
              </a:rPr>
              <a:t>monitoring</a:t>
            </a:r>
          </a:p>
        </p:txBody>
      </p:sp>
      <p:pic>
        <p:nvPicPr>
          <p:cNvPr id="39" name="Picture 38" descr="stor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088" y="5792724"/>
            <a:ext cx="384048" cy="38404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577784" y="623163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F2329"/>
                </a:solidFill>
                <a:latin typeface="Segoe UI"/>
              </a:rPr>
              <a:t>Storage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7784" y="641451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B6570"/>
                </a:solidFill>
                <a:latin typeface="Segoe UI"/>
              </a:rPr>
              <a:t>runtime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39000" y="1440088"/>
            <a:ext cx="2880360" cy="1570957"/>
          </a:xfrm>
          <a:prstGeom prst="roundRect">
            <a:avLst>
              <a:gd name="adj" fmla="val 6000"/>
            </a:avLst>
          </a:prstGeom>
          <a:solidFill>
            <a:srgbClr val="F1EDFA"/>
          </a:solidFill>
          <a:ln w="20320">
            <a:solidFill>
              <a:srgbClr val="5E3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ag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6729" y="1543524"/>
            <a:ext cx="365760" cy="36576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813929" y="1628106"/>
            <a:ext cx="22768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5E3BA6"/>
                </a:solidFill>
                <a:latin typeface="Segoe UI"/>
              </a:rPr>
              <a:t>Agent 1 — Search &amp; Match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56729" y="2019012"/>
            <a:ext cx="2660904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 smtClean="0">
                <a:solidFill>
                  <a:srgbClr val="5E3BA6"/>
                </a:solidFill>
                <a:latin typeface="Segoe UI"/>
              </a:rPr>
              <a:t>Tools:</a:t>
            </a:r>
            <a:endParaRPr sz="800" b="1" i="0" dirty="0">
              <a:solidFill>
                <a:srgbClr val="5E3BA6"/>
              </a:solidFill>
              <a:latin typeface="Segoe UI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7384161" y="2220180"/>
            <a:ext cx="1284732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E3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39025" y="2265900"/>
            <a:ext cx="11932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F2329"/>
                </a:solidFill>
                <a:latin typeface="Segoe UI"/>
              </a:rPr>
              <a:t>SearchByRegNumber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7181" y="2220180"/>
            <a:ext cx="1284732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E3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742045" y="2265900"/>
            <a:ext cx="11932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F2329"/>
                </a:solidFill>
                <a:latin typeface="Segoe UI"/>
              </a:rPr>
              <a:t>FuzzySearchByName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87181" y="2521932"/>
            <a:ext cx="1284732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E3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42045" y="2567652"/>
            <a:ext cx="11932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F2329"/>
                </a:solidFill>
                <a:latin typeface="Segoe UI"/>
              </a:rPr>
              <a:t>ProviderLookup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84161" y="2546696"/>
            <a:ext cx="1284732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E3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439025" y="2592416"/>
            <a:ext cx="11932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dirty="0" err="1">
                <a:solidFill>
                  <a:srgbClr val="1F2329"/>
                </a:solidFill>
                <a:latin typeface="Segoe UI"/>
              </a:rPr>
              <a:t>FuzzyMatchScore</a:t>
            </a:r>
            <a:endParaRPr sz="750" b="0" i="0" dirty="0">
              <a:solidFill>
                <a:srgbClr val="1F2329"/>
              </a:solidFill>
              <a:latin typeface="Segoe UI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7250812" y="3168963"/>
            <a:ext cx="2880360" cy="1828800"/>
          </a:xfrm>
          <a:prstGeom prst="roundRect">
            <a:avLst>
              <a:gd name="adj" fmla="val 6000"/>
            </a:avLst>
          </a:prstGeom>
          <a:solidFill>
            <a:srgbClr val="F1EDFA"/>
          </a:solidFill>
          <a:ln w="20320">
            <a:solidFill>
              <a:srgbClr val="5E3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ag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540" y="3266879"/>
            <a:ext cx="365760" cy="36576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781164" y="3287834"/>
            <a:ext cx="22768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E3BA6"/>
                </a:solidFill>
                <a:latin typeface="Segoe UI"/>
              </a:rPr>
              <a:t>Agent 2 — Data Completion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540" y="3772467"/>
            <a:ext cx="2660904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 smtClean="0">
                <a:solidFill>
                  <a:srgbClr val="5E3BA6"/>
                </a:solidFill>
                <a:latin typeface="Segoe UI"/>
              </a:rPr>
              <a:t>Tools:</a:t>
            </a:r>
            <a:endParaRPr sz="800" b="1" i="0" dirty="0">
              <a:solidFill>
                <a:srgbClr val="5E3BA6"/>
              </a:solidFill>
              <a:latin typeface="Segoe UI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7387972" y="3973635"/>
            <a:ext cx="1284732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E3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442836" y="4019355"/>
            <a:ext cx="11932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F2329"/>
                </a:solidFill>
                <a:latin typeface="Segoe UI"/>
              </a:rPr>
              <a:t>SearchByRegNumber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690992" y="3973635"/>
            <a:ext cx="1284732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E3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745856" y="4019355"/>
            <a:ext cx="11932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F2329"/>
                </a:solidFill>
                <a:latin typeface="Segoe UI"/>
              </a:rPr>
              <a:t>FuzzySearchByName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87972" y="4275387"/>
            <a:ext cx="1284732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E3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42836" y="4321107"/>
            <a:ext cx="11932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F2329"/>
                </a:solidFill>
                <a:latin typeface="Segoe UI"/>
              </a:rPr>
              <a:t>SearchByPhonePostal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690992" y="4275387"/>
            <a:ext cx="1284732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E3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745856" y="4321107"/>
            <a:ext cx="11932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F2329"/>
                </a:solidFill>
                <a:latin typeface="Segoe UI"/>
              </a:rPr>
              <a:t>ProviderLookup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87972" y="4577139"/>
            <a:ext cx="1284732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E3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442836" y="4622859"/>
            <a:ext cx="11932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F2329"/>
                </a:solidFill>
                <a:latin typeface="Segoe UI"/>
              </a:rPr>
              <a:t>FuzzyMatchScore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538841" y="1415508"/>
            <a:ext cx="2130552" cy="1159475"/>
          </a:xfrm>
          <a:prstGeom prst="roundRect">
            <a:avLst>
              <a:gd name="adj" fmla="val 6000"/>
            </a:avLst>
          </a:prstGeom>
          <a:solidFill>
            <a:srgbClr val="FCF1E6"/>
          </a:solidFill>
          <a:ln w="17780">
            <a:solidFill>
              <a:srgbClr val="B570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630281" y="1488660"/>
            <a:ext cx="19476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B5701B"/>
                </a:solidFill>
                <a:latin typeface="Segoe UI"/>
              </a:rPr>
              <a:t>PROVIDER REGISTRY</a:t>
            </a:r>
          </a:p>
        </p:txBody>
      </p:sp>
      <p:pic>
        <p:nvPicPr>
          <p:cNvPr id="75" name="Picture 74" descr="api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7073" y="3347176"/>
            <a:ext cx="384048" cy="38404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5408676" y="373122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dirty="0">
                <a:solidFill>
                  <a:srgbClr val="1F2329"/>
                </a:solidFill>
                <a:latin typeface="Segoe UI"/>
              </a:rPr>
              <a:t>Azure APIM</a:t>
            </a:r>
          </a:p>
          <a:p>
            <a:pPr algn="l"/>
            <a:r>
              <a:rPr sz="850" b="0" i="0" dirty="0">
                <a:solidFill>
                  <a:srgbClr val="1F2329"/>
                </a:solidFill>
                <a:latin typeface="Segoe UI"/>
              </a:rPr>
              <a:t>(gateway, OAuth2)</a:t>
            </a:r>
          </a:p>
        </p:txBody>
      </p:sp>
      <p:pic>
        <p:nvPicPr>
          <p:cNvPr id="77" name="Picture 76" descr="regist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6475" y="1819657"/>
            <a:ext cx="384048" cy="38404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1224640" y="185808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dirty="0">
                <a:solidFill>
                  <a:srgbClr val="1F2329"/>
                </a:solidFill>
                <a:latin typeface="Segoe UI"/>
              </a:rPr>
              <a:t>HA Provider Search</a:t>
            </a:r>
          </a:p>
          <a:p>
            <a:pPr algn="l"/>
            <a:r>
              <a:rPr sz="850" b="0" i="0" dirty="0" err="1">
                <a:solidFill>
                  <a:srgbClr val="1F2329"/>
                </a:solidFill>
                <a:latin typeface="Segoe UI"/>
              </a:rPr>
              <a:t>GraphQL</a:t>
            </a:r>
            <a:r>
              <a:rPr sz="850" b="0" i="0" dirty="0">
                <a:solidFill>
                  <a:srgbClr val="1F2329"/>
                </a:solidFill>
                <a:latin typeface="Segoe UI"/>
              </a:rPr>
              <a:t> · </a:t>
            </a:r>
            <a:r>
              <a:rPr sz="850" b="0" i="0" dirty="0" err="1">
                <a:solidFill>
                  <a:srgbClr val="1F2329"/>
                </a:solidFill>
                <a:latin typeface="Segoe UI"/>
              </a:rPr>
              <a:t>searchProviders</a:t>
            </a:r>
            <a:endParaRPr sz="850" b="0" i="0" dirty="0">
              <a:solidFill>
                <a:srgbClr val="1F2329"/>
              </a:solidFill>
              <a:latin typeface="Segoe UI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10538841" y="3381468"/>
            <a:ext cx="2130552" cy="137160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7780">
            <a:solidFill>
              <a:srgbClr val="0F7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630281" y="3454620"/>
            <a:ext cx="19476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F7B4B"/>
                </a:solidFill>
                <a:latin typeface="Segoe UI"/>
              </a:rPr>
              <a:t>MICROSOFT DATAVERSE</a:t>
            </a:r>
          </a:p>
        </p:txBody>
      </p:sp>
      <p:pic>
        <p:nvPicPr>
          <p:cNvPr id="81" name="Picture 80" descr="dataver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48568" y="3701507"/>
            <a:ext cx="384048" cy="38404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1087481" y="3719796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329"/>
                </a:solidFill>
                <a:latin typeface="Segoe UI"/>
              </a:rPr>
              <a:t>NIGO Cases +</a:t>
            </a:r>
          </a:p>
          <a:p>
            <a:pPr algn="l"/>
            <a:r>
              <a:rPr sz="850" b="0" i="0">
                <a:solidFill>
                  <a:srgbClr val="1F2329"/>
                </a:solidFill>
                <a:latin typeface="Segoe UI"/>
              </a:rPr>
              <a:t>Audit (data stays)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48568" y="4295868"/>
            <a:ext cx="1947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1">
                <a:solidFill>
                  <a:srgbClr val="5B6570"/>
                </a:solidFill>
                <a:latin typeface="Segoe UI"/>
              </a:rPr>
              <a:t>read/write via Web API</a:t>
            </a:r>
          </a:p>
          <a:p>
            <a:pPr algn="l"/>
            <a:r>
              <a:rPr sz="750" b="0" i="1">
                <a:solidFill>
                  <a:srgbClr val="5B6570"/>
                </a:solidFill>
                <a:latin typeface="Segoe UI"/>
              </a:rPr>
              <a:t>(Managed Identity)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728684" y="2971800"/>
            <a:ext cx="438912" cy="0"/>
          </a:xfrm>
          <a:prstGeom prst="line">
            <a:avLst/>
          </a:prstGeom>
          <a:ln w="22225">
            <a:solidFill>
              <a:srgbClr val="8A94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112000" y="3619397"/>
            <a:ext cx="723521" cy="0"/>
          </a:xfrm>
          <a:prstGeom prst="line">
            <a:avLst/>
          </a:prstGeom>
          <a:ln w="19050">
            <a:solidFill>
              <a:schemeClr val="accent3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835521" y="1186908"/>
            <a:ext cx="0" cy="2445731"/>
          </a:xfrm>
          <a:prstGeom prst="line">
            <a:avLst/>
          </a:prstGeom>
          <a:ln w="22225">
            <a:solidFill>
              <a:srgbClr val="0F7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835521" y="1186908"/>
            <a:ext cx="4754880" cy="0"/>
          </a:xfrm>
          <a:prstGeom prst="line">
            <a:avLst/>
          </a:prstGeom>
          <a:ln w="22225">
            <a:solidFill>
              <a:srgbClr val="0F7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590401" y="1186908"/>
            <a:ext cx="0" cy="210312"/>
          </a:xfrm>
          <a:prstGeom prst="line">
            <a:avLst/>
          </a:prstGeom>
          <a:ln w="22225">
            <a:solidFill>
              <a:srgbClr val="0F7B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6766560" y="102412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 dirty="0">
                <a:solidFill>
                  <a:srgbClr val="0F7B4B"/>
                </a:solidFill>
                <a:latin typeface="Segoe UI"/>
              </a:rPr>
              <a:t>deterministic: direct Registry match → case closed</a:t>
            </a:r>
          </a:p>
        </p:txBody>
      </p:sp>
      <p:cxnSp>
        <p:nvCxnSpPr>
          <p:cNvPr id="91" name="Connector 90"/>
          <p:cNvCxnSpPr/>
          <p:nvPr/>
        </p:nvCxnSpPr>
        <p:spPr>
          <a:xfrm flipV="1">
            <a:off x="6117335" y="2256521"/>
            <a:ext cx="1" cy="1149711"/>
          </a:xfrm>
          <a:prstGeom prst="line">
            <a:avLst/>
          </a:prstGeom>
          <a:ln w="20320">
            <a:solidFill>
              <a:srgbClr val="5E3B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126480" y="2284188"/>
            <a:ext cx="1102233" cy="0"/>
          </a:xfrm>
          <a:prstGeom prst="line">
            <a:avLst/>
          </a:prstGeom>
          <a:ln w="20320">
            <a:solidFill>
              <a:srgbClr val="5E3BA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112000" y="4101651"/>
            <a:ext cx="1" cy="346997"/>
          </a:xfrm>
          <a:prstGeom prst="line">
            <a:avLst/>
          </a:prstGeom>
          <a:ln w="20320">
            <a:solidFill>
              <a:srgbClr val="5E3B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126480" y="4467792"/>
            <a:ext cx="1120521" cy="3430"/>
          </a:xfrm>
          <a:prstGeom prst="line">
            <a:avLst/>
          </a:prstGeom>
          <a:ln w="20320">
            <a:solidFill>
              <a:srgbClr val="5E3BA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652641" y="315286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E3BA6"/>
                </a:solidFill>
                <a:latin typeface="Segoe UI"/>
              </a:rPr>
              <a:t>route</a:t>
            </a:r>
          </a:p>
        </p:txBody>
      </p:sp>
      <p:cxnSp>
        <p:nvCxnSpPr>
          <p:cNvPr id="97" name="Connector 96"/>
          <p:cNvCxnSpPr>
            <a:stCxn id="42" idx="3"/>
          </p:cNvCxnSpPr>
          <p:nvPr/>
        </p:nvCxnSpPr>
        <p:spPr>
          <a:xfrm>
            <a:off x="10119360" y="2225567"/>
            <a:ext cx="372998" cy="0"/>
          </a:xfrm>
          <a:prstGeom prst="line">
            <a:avLst/>
          </a:prstGeom>
          <a:ln w="17780">
            <a:solidFill>
              <a:srgbClr val="B5701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>
            <a:stCxn id="28" idx="0"/>
            <a:endCxn id="9" idx="2"/>
          </p:cNvCxnSpPr>
          <p:nvPr/>
        </p:nvCxnSpPr>
        <p:spPr>
          <a:xfrm flipH="1" flipV="1">
            <a:off x="3753612" y="4805264"/>
            <a:ext cx="10356" cy="676564"/>
          </a:xfrm>
          <a:prstGeom prst="line">
            <a:avLst/>
          </a:prstGeom>
          <a:ln w="15875">
            <a:solidFill>
              <a:srgbClr val="C7383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>
            <a:off x="5728143" y="4067268"/>
            <a:ext cx="0" cy="1267400"/>
          </a:xfrm>
          <a:prstGeom prst="line">
            <a:avLst/>
          </a:prstGeom>
          <a:ln w="9525"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5729097" y="5362575"/>
            <a:ext cx="5875020" cy="46193"/>
          </a:xfrm>
          <a:prstGeom prst="line">
            <a:avLst/>
          </a:prstGeom>
          <a:ln w="9525"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>
            <a:stCxn id="79" idx="2"/>
          </p:cNvCxnSpPr>
          <p:nvPr/>
        </p:nvCxnSpPr>
        <p:spPr>
          <a:xfrm>
            <a:off x="11604117" y="4753068"/>
            <a:ext cx="0" cy="632748"/>
          </a:xfrm>
          <a:prstGeom prst="line">
            <a:avLst/>
          </a:prstGeom>
          <a:ln w="9525"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>
            <a:off x="10131172" y="3266879"/>
            <a:ext cx="727327" cy="0"/>
          </a:xfrm>
          <a:prstGeom prst="line">
            <a:avLst/>
          </a:prstGeom>
          <a:ln w="9525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 flipH="1" flipV="1">
            <a:off x="10846879" y="2599565"/>
            <a:ext cx="11621" cy="667315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26" name="Picture 2" descr="Pricing - Functions | Microsoft Azure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050" y="1553003"/>
            <a:ext cx="344511" cy="310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151</Words>
  <Application>Microsoft Office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my pc</cp:lastModifiedBy>
  <cp:revision>6</cp:revision>
  <dcterms:created xsi:type="dcterms:W3CDTF">2013-01-27T09:14:16Z</dcterms:created>
  <dcterms:modified xsi:type="dcterms:W3CDTF">2026-09-02T07:47:03Z</dcterms:modified>
  <cp:category/>
</cp:coreProperties>
</file>