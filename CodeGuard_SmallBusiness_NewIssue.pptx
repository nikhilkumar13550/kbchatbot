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383280" cy="6858000"/>
          </a:xfrm>
          <a:prstGeom prst="rect">
            <a:avLst/>
          </a:prstGeom>
          <a:solidFill>
            <a:srgbClr val="2C6E44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8FC1A9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4206240"/>
            <a:ext cx="2926080" cy="2926080"/>
          </a:xfrm>
          <a:prstGeom prst="ellipse">
            <a:avLst/>
          </a:prstGeom>
          <a:solidFill>
            <a:srgbClr val="8FC1A9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CODEGUARD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58368" y="3200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New Issue Coding, Validation &amp; QC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C1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Proposal  ·  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59893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F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New Issue – Manual Connect / Maps / GPM / MidOne bot coding workflow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6355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 Manulife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88136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5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PROCESS — NEW ISSUE BOT CODING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465653" cy="1417320"/>
          </a:xfrm>
          <a:prstGeom prst="roundRect">
            <a:avLst>
              <a:gd name="adj" fmla="val 5161"/>
            </a:avLst>
          </a:prstGeom>
          <a:solidFill>
            <a:srgbClr val="F5FAF7"/>
          </a:solidFill>
          <a:ln w="12700">
            <a:solidFill>
              <a:srgbClr val="D7E6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2827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90472"/>
            <a:ext cx="12827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SBIS Intake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929384"/>
            <a:ext cx="128277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received: sold plan + docs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77133" y="168706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C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87445" y="1143000"/>
            <a:ext cx="1465653" cy="1417320"/>
          </a:xfrm>
          <a:prstGeom prst="roundRect">
            <a:avLst>
              <a:gd name="adj" fmla="val 5161"/>
            </a:avLst>
          </a:prstGeom>
          <a:solidFill>
            <a:srgbClr val="F5FAF7"/>
          </a:solidFill>
          <a:ln w="12700">
            <a:solidFill>
              <a:srgbClr val="D7E6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8885" y="1216152"/>
            <a:ext cx="12827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78885" y="1490472"/>
            <a:ext cx="12827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Setup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178885" y="1929384"/>
            <a:ext cx="128277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# + MADI / Bot ID matched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07377" y="168706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C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17689" y="1143000"/>
            <a:ext cx="1465653" cy="1417320"/>
          </a:xfrm>
          <a:prstGeom prst="roundRect">
            <a:avLst>
              <a:gd name="adj" fmla="val 5161"/>
            </a:avLst>
          </a:prstGeom>
          <a:solidFill>
            <a:srgbClr val="F5FAF7"/>
          </a:solidFill>
          <a:ln w="12700">
            <a:solidFill>
              <a:srgbClr val="D7E6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09129" y="1216152"/>
            <a:ext cx="12827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09129" y="1490472"/>
            <a:ext cx="12827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Extract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809129" y="1929384"/>
            <a:ext cx="128277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GPM · MidOne · Maps · Manual Connect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37622" y="168706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C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47934" y="1143000"/>
            <a:ext cx="1465653" cy="1417320"/>
          </a:xfrm>
          <a:prstGeom prst="roundRect">
            <a:avLst>
              <a:gd name="adj" fmla="val 5161"/>
            </a:avLst>
          </a:prstGeom>
          <a:solidFill>
            <a:srgbClr val="F5FAF7"/>
          </a:solidFill>
          <a:ln w="12700">
            <a:solidFill>
              <a:srgbClr val="D7E6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9374" y="1216152"/>
            <a:ext cx="12827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39374" y="1490472"/>
            <a:ext cx="12827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39374" y="1929384"/>
            <a:ext cx="128277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staged in input folder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67866" y="168706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C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78178" y="1143000"/>
            <a:ext cx="1465653" cy="1417320"/>
          </a:xfrm>
          <a:prstGeom prst="roundRect">
            <a:avLst>
              <a:gd name="adj" fmla="val 5161"/>
            </a:avLst>
          </a:prstGeom>
          <a:solidFill>
            <a:srgbClr val="F5FAF7"/>
          </a:solidFill>
          <a:ln w="12700">
            <a:solidFill>
              <a:srgbClr val="D7E6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69618" y="1216152"/>
            <a:ext cx="12827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69618" y="1490472"/>
            <a:ext cx="12827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Auto-Coding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069618" y="1929384"/>
            <a:ext cx="128277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codes fields (several hrs wait)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98111" y="168706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C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608423" y="1143000"/>
            <a:ext cx="1465653" cy="1417320"/>
          </a:xfrm>
          <a:prstGeom prst="roundRect">
            <a:avLst>
              <a:gd name="adj" fmla="val 5161"/>
            </a:avLst>
          </a:prstGeom>
          <a:solidFill>
            <a:srgbClr val="F5FAF7"/>
          </a:solidFill>
          <a:ln w="12700">
            <a:solidFill>
              <a:srgbClr val="D7E6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99863" y="1216152"/>
            <a:ext cx="12827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99863" y="1490472"/>
            <a:ext cx="12827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Report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699863" y="1929384"/>
            <a:ext cx="128277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fail by benefit &amp; rate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028355" y="168706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C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238667" y="1143000"/>
            <a:ext cx="1465653" cy="1417320"/>
          </a:xfrm>
          <a:prstGeom prst="roundRect">
            <a:avLst>
              <a:gd name="adj" fmla="val 5161"/>
            </a:avLst>
          </a:prstGeom>
          <a:solidFill>
            <a:srgbClr val="E9F3EC"/>
          </a:solidFill>
          <a:ln w="22225">
            <a:solidFill>
              <a:srgbClr val="1E5B34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0330107" y="1216152"/>
            <a:ext cx="12827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330107" y="1490472"/>
            <a:ext cx="12827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Review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0330107" y="1929384"/>
            <a:ext cx="128277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 or manual fix before close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2670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6–7 repeat until the case is fully coded — manual QC is required on every case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3246120"/>
            <a:ext cx="3611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DC"/>
            </a:solidFill>
            <a:prstDash val="solid"/>
          </a:ln>
          <a:effectLst>
            <a:outerShdw sx="100000" sy="100000" kx="0" ky="0" algn="bl" rotWithShape="0" blurRad="63500" dist="25400" dir="5400000">
              <a:srgbClr val="1E5B34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1792" y="3374136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5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· SBIS Package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21792" y="3721608"/>
            <a:ext cx="3282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file from the Small Business Implementation Specialist. Contains the benefits summary (sold plan), the MADI / Bot ID, and all documents needed for coding.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251960" y="3246120"/>
            <a:ext cx="3611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DC"/>
            </a:solidFill>
            <a:prstDash val="solid"/>
          </a:ln>
          <a:effectLst>
            <a:outerShdw sx="100000" sy="100000" kx="0" ky="0" algn="bl" rotWithShape="0" blurRad="63500" dist="25400" dir="5400000">
              <a:srgbClr val="1E5B34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416552" y="3374136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5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· Extraction Bots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4416552" y="3721608"/>
            <a:ext cx="3282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#, effective date and group name are verified, then the case is extracted into GPM, MidOne, Maps or Manual Connect for auto-population.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046720" y="3246120"/>
            <a:ext cx="3611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DC"/>
            </a:solidFill>
            <a:prstDash val="solid"/>
          </a:ln>
          <a:effectLst>
            <a:outerShdw sx="100000" sy="100000" kx="0" ky="0" algn="bl" rotWithShape="0" blurRad="63500" dist="25400" dir="5400000">
              <a:srgbClr val="1E5B34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211312" y="3374136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5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· Report &amp; QC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8211312" y="3721608"/>
            <a:ext cx="3282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report flags success/fail per benefit and rate tab. Bot accuracy runs ~85%, so an IA reviews every field before the case is closed.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7200" y="507492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E9F3EC"/>
          </a:solidFill>
          <a:ln/>
        </p:spPr>
      </p:sp>
      <p:sp>
        <p:nvSpPr>
          <p:cNvPr id="48" name="Text 46"/>
          <p:cNvSpPr/>
          <p:nvPr/>
        </p:nvSpPr>
        <p:spPr>
          <a:xfrm>
            <a:off x="658368" y="512978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5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 rule:  </a:t>
            </a:r>
            <a:pPr indent="0" marL="0">
              <a:buNone/>
            </a:pPr>
            <a:r>
              <a:rPr lang="en-US" sz="10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&amp; GPM can always rerun (values override). Manual Connect cannot be rerun once any field has coded — it adds duplicate benefit lines, so remaining fields are corrected by hand.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7200" y="576986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5FAF7"/>
          </a:solidFill>
          <a:ln w="9525">
            <a:solidFill>
              <a:srgbClr val="D7E6D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" y="58247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5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 </a:t>
            </a:r>
            <a:pPr indent="0" marL="0">
              <a:buNone/>
            </a:pPr>
            <a:r>
              <a:rPr lang="en-US" sz="10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case is closed without human validation of every coded field — bot confidence is ~85%, so 100% of cases pass through IA review.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Manulife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88136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5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LOGICAL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434840" y="1051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412480" y="1051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918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D7E6DC"/>
            </a:solidFill>
            <a:prstDash val="solid"/>
          </a:ln>
        </p:spPr>
      </p:sp>
      <p:pic>
        <p:nvPicPr>
          <p:cNvPr id="7" name="Image 0" descr="/home/claude/icons/mail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3619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4996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SBIS Zip Intake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9019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plan, benefits summary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MADI / Bot ID receipt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434840" y="1371600"/>
            <a:ext cx="3291840" cy="1051560"/>
          </a:xfrm>
          <a:prstGeom prst="roundRect">
            <a:avLst>
              <a:gd name="adj" fmla="val 6087"/>
            </a:avLst>
          </a:prstGeom>
          <a:solidFill>
            <a:srgbClr val="1E5B34"/>
          </a:solidFill>
          <a:ln/>
        </p:spPr>
      </p:sp>
      <p:pic>
        <p:nvPicPr>
          <p:cNvPr id="11" name="Image 1" descr="/home/claude/icons/robo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53619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74920" y="14996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Extraction Engine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17720" y="19019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GPM · MidOne · Maps · Manual Connect coordination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412480" y="1371600"/>
            <a:ext cx="32918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D7E6DC"/>
            </a:solidFill>
            <a:prstDash val="solid"/>
          </a:ln>
        </p:spPr>
      </p:sp>
      <p:pic>
        <p:nvPicPr>
          <p:cNvPr id="15" name="Image 2" descr="/home/claude/icons/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53619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52560" y="14996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Auto-Population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595360" y="19019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 field accuracy from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ID / plan mapping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749040" y="1897380"/>
            <a:ext cx="685800" cy="0"/>
          </a:xfrm>
          <a:prstGeom prst="line">
            <a:avLst/>
          </a:prstGeom>
          <a:noFill/>
          <a:ln w="28575">
            <a:solidFill>
              <a:srgbClr val="8FC1A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726680" y="1897380"/>
            <a:ext cx="685800" cy="0"/>
          </a:xfrm>
          <a:prstGeom prst="line">
            <a:avLst/>
          </a:prstGeom>
          <a:noFill/>
          <a:ln w="28575">
            <a:solidFill>
              <a:srgbClr val="8FC1A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 flipH="1">
            <a:off x="2240280" y="2423160"/>
            <a:ext cx="3840480" cy="640080"/>
          </a:xfrm>
          <a:prstGeom prst="line">
            <a:avLst/>
          </a:prstGeom>
          <a:noFill/>
          <a:ln w="22225">
            <a:solidFill>
              <a:srgbClr val="8FC1A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 flipH="1">
            <a:off x="6035040" y="2423160"/>
            <a:ext cx="45720" cy="640080"/>
          </a:xfrm>
          <a:prstGeom prst="line">
            <a:avLst/>
          </a:prstGeom>
          <a:noFill/>
          <a:ln w="22225">
            <a:solidFill>
              <a:srgbClr val="8FC1A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080760" y="2423160"/>
            <a:ext cx="3749040" cy="640080"/>
          </a:xfrm>
          <a:prstGeom prst="line">
            <a:avLst/>
          </a:prstGeom>
          <a:noFill/>
          <a:ln w="22225">
            <a:solidFill>
              <a:srgbClr val="8FC1A9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57200" y="3063240"/>
            <a:ext cx="3566160" cy="1143000"/>
          </a:xfrm>
          <a:prstGeom prst="roundRect">
            <a:avLst>
              <a:gd name="adj" fmla="val 5600"/>
            </a:avLst>
          </a:prstGeom>
          <a:solidFill>
            <a:srgbClr val="E9F3EC"/>
          </a:solidFill>
          <a:ln w="12700">
            <a:solidFill>
              <a:srgbClr val="8FC1A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0080" y="32278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5B34"/>
            </a:solidFill>
            <a:prstDash val="solid"/>
          </a:ln>
        </p:spPr>
      </p:sp>
      <p:pic>
        <p:nvPicPr>
          <p:cNvPr id="25" name="Image 3" descr="/home/claude/icons/folder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310128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70432" y="320954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Staging Queue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40080" y="36850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extracted Excel case files ahead of coding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251960" y="3063240"/>
            <a:ext cx="3566160" cy="1143000"/>
          </a:xfrm>
          <a:prstGeom prst="roundRect">
            <a:avLst>
              <a:gd name="adj" fmla="val 5600"/>
            </a:avLst>
          </a:prstGeom>
          <a:solidFill>
            <a:srgbClr val="E9F3EC"/>
          </a:solidFill>
          <a:ln w="12700">
            <a:solidFill>
              <a:srgbClr val="8FC1A9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434840" y="3227832"/>
            <a:ext cx="420624" cy="420624"/>
          </a:xfrm>
          <a:prstGeom prst="ellipse">
            <a:avLst/>
          </a:prstGeom>
          <a:solidFill>
            <a:srgbClr val="B5651D"/>
          </a:solidFill>
          <a:ln w="12700">
            <a:solidFill>
              <a:srgbClr val="1E5B34"/>
            </a:solidFill>
            <a:prstDash val="solid"/>
          </a:ln>
        </p:spPr>
      </p:sp>
      <p:pic>
        <p:nvPicPr>
          <p:cNvPr id="30" name="Image 4" descr="/home/claude/icons/war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7136" y="3310128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965192" y="320954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Report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4434840" y="36850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Per-benefit &amp; per-rate success/fail results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8046720" y="3063240"/>
            <a:ext cx="3566160" cy="1143000"/>
          </a:xfrm>
          <a:prstGeom prst="roundRect">
            <a:avLst>
              <a:gd name="adj" fmla="val 5600"/>
            </a:avLst>
          </a:prstGeom>
          <a:solidFill>
            <a:srgbClr val="E9F3EC"/>
          </a:solidFill>
          <a:ln w="12700">
            <a:solidFill>
              <a:srgbClr val="8FC1A9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229600" y="32278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5B34"/>
            </a:solidFill>
            <a:prstDash val="solid"/>
          </a:ln>
        </p:spPr>
      </p:sp>
      <p:pic>
        <p:nvPicPr>
          <p:cNvPr id="35" name="Image 5" descr="/home/claude/icons/shield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1896" y="3310128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759952" y="320954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&amp; Audit Log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8229600" y="36850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validation, corrections &amp; audit trail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1E5B34"/>
          </a:solidFill>
          <a:ln/>
        </p:spPr>
      </p:sp>
      <p:sp>
        <p:nvSpPr>
          <p:cNvPr id="39" name="Text 31"/>
          <p:cNvSpPr/>
          <p:nvPr/>
        </p:nvSpPr>
        <p:spPr>
          <a:xfrm>
            <a:off x="640080" y="4617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CROSS-CUTTING:  Access &amp; Identity   ·   Bot ID Mapping   ·   Audit Logging   ·   Monitoring &amp; SLA (SPT) Tracking</a:t>
            </a:r>
            <a:endParaRPr lang="en-US" sz="1150" dirty="0"/>
          </a:p>
        </p:txBody>
      </p:sp>
      <p:sp>
        <p:nvSpPr>
          <p:cNvPr id="40" name="Shape 32"/>
          <p:cNvSpPr/>
          <p:nvPr/>
        </p:nvSpPr>
        <p:spPr>
          <a:xfrm>
            <a:off x="457200" y="5349240"/>
            <a:ext cx="11247120" cy="777240"/>
          </a:xfrm>
          <a:prstGeom prst="rect">
            <a:avLst/>
          </a:prstGeom>
          <a:solidFill>
            <a:srgbClr val="FBF3EA"/>
          </a:solidFill>
          <a:ln w="12700">
            <a:solidFill>
              <a:srgbClr val="EAD9C2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658368" y="5394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limitation:  </a:t>
            </a:r>
            <a:pPr indent="0" marL="0">
              <a:buNone/>
            </a:pPr>
            <a:r>
              <a:rPr lang="en-US" sz="10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coding is ~85% accurate and 100% of cases still require IA field-by-field review — average SPT is 1.75 hrs (Manual Connect) and 1.5 hrs (Maps) across ~17 logs/day per system. This risk is concentrated in Manual Connect and Maps, the two highest-error systems.</a:t>
            </a:r>
            <a:endParaRPr lang="en-US" sz="1050" dirty="0"/>
          </a:p>
        </p:txBody>
      </p:sp>
      <p:sp>
        <p:nvSpPr>
          <p:cNvPr id="42" name="Text 34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Manulife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1088136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5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CASE TEMPLATE — COST &amp; IMPACT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bracketed fields for your target future state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658368"/>
          </a:xfrm>
          <a:prstGeom prst="rect">
            <a:avLst/>
          </a:prstGeom>
          <a:solidFill>
            <a:srgbClr val="E9F3EC"/>
          </a:solidFill>
          <a:ln w="9525">
            <a:solidFill>
              <a:srgbClr val="D7E6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5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/ Mission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0" y="1188720"/>
            <a:ext cx="8503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1887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the problem: e.g. current bot coding is ~85% accurate, requiring manual review on 100% of cases, driving rework and delayed turnaround.]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2743200" cy="658368"/>
          </a:xfrm>
          <a:prstGeom prst="rect">
            <a:avLst/>
          </a:prstGeom>
          <a:solidFill>
            <a:srgbClr val="E9F3EC"/>
          </a:solidFill>
          <a:ln w="9525">
            <a:solidFill>
              <a:srgbClr val="D7E6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470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5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0" y="1847088"/>
            <a:ext cx="8503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847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the expected improvement: e.g. reduce manual QC hours by X% and improve first-time-right coding rate.]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2743200" cy="658368"/>
          </a:xfrm>
          <a:prstGeom prst="rect">
            <a:avLst/>
          </a:prstGeom>
          <a:solidFill>
            <a:srgbClr val="E9F3EC"/>
          </a:solidFill>
          <a:ln w="9525">
            <a:solidFill>
              <a:srgbClr val="D7E6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0545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5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of Not Investing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0" y="2505456"/>
            <a:ext cx="8503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50545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the risk of staying with the current process: continued manual effort, error rate and SLA risk.]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3009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5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&amp; Resources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66744"/>
          <a:ext cx="11247120" cy="1920240"/>
        </p:xfrm>
        <a:graphic>
          <a:graphicData uri="http://schemas.openxmlformats.org/drawingml/2006/table">
            <a:tbl>
              <a:tblPr/>
              <a:tblGrid>
                <a:gridCol w="2651760"/>
                <a:gridCol w="3291840"/>
                <a:gridCol w="2743200"/>
                <a:gridCol w="25603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Cost / Savings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3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volume (logs)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 /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SPT per case (hrs)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 (Manual Connect) / 1.5 (Maps)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Staffing (FTE)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Tooling / licensing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annual impact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Manulife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88136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CodeGuard - Small Business New Issue Coding Automation</dc:title>
  <dc:subject>PptxGenJS Presentation</dc:subject>
  <dc:creator>Small Business New Issue - Automation</dc:creator>
  <cp:lastModifiedBy>Small Business New Issue - Automation</cp:lastModifiedBy>
  <cp:revision>1</cp:revision>
  <dcterms:created xsi:type="dcterms:W3CDTF">2026-07-02T17:42:58Z</dcterms:created>
  <dcterms:modified xsi:type="dcterms:W3CDTF">2026-07-02T17:42:58Z</dcterms:modified>
</cp:coreProperties>
</file>